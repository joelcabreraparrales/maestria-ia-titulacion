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ESPECIALIDADES ESPÍRITU SANTO  ·  POSTGRADO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Ética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riesgos, mapeo de stakeholders e impacto social del sistema Text-to-SQL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109728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   </a:t>
            </a:r>
            <a:pPr indent="0" marL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Joel David  ·  Sánchez Arévalo Aníbal Andrés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   </a:t>
            </a:r>
            <a:pPr indent="0" marL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Alexandra J. Arciniegas 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  </a:t>
            </a:r>
            <a:pPr indent="0" marL="0">
              <a:buNone/>
            </a:pPr>
            <a:r>
              <a:rPr lang="en-US" sz="1300" b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marzo — 15 de mayo de 2026  (8 semanas)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SAMBORONDÓN — ECUADOR  ·  ABRIL 2026  ·  GRUPO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REFLEXIÓN ÉTICA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recorrer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Text-to-SQL y métricas previas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del proyecto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semanas — dónde nos ubicamos hoy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43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Mehrabi, NIST, AI Act, Value Sensitive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74320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743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éticos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riesgos — explícitos e implícitos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033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diferencial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distribuyen los daños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70332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7033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3232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actores y sus valores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66344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63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Beneficios, riesgos y plazos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466344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663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3232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3232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asumidos por el equipo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sistema estamos analizando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778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91440" cy="45262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TEXT-TO-SQL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de Técnicas de IA con Visualización Automática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 usuarios sin conocimiento técnico formular preguntas en español y obtener resultados con visualización automática.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(Yu et al., 2018) — 8.034 ejemplos · 138 dominios · 200 BD.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auxiliar: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200 árboles · 85 features · clasificación de dificultad SQL.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486400" cy="45262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SABEMOS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técnicos previos del Grupo 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154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0,499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924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Ratio · Longitud de pregunta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0,388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09244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train/val F1 — sobreajuste severo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0,479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09244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mínimo — frágil ante perturbaciones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5120640"/>
            <a:ext cx="4937760" cy="105156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52120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números no son abstractos: son la materialización empírica de los riesgos éticos que abordaremos a continuación.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CRONOGRAMA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semanas del Proyecto Integrador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 ELABORACIÓN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marzo de 2026</a:t>
            </a:r>
            <a:pPr indent="0" marL="0">
              <a:buNone/>
            </a:pPr>
            <a:r>
              <a:rPr lang="en-US" sz="13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mayo de 2026</a:t>
            </a:r>
            <a:pPr indent="0" marL="0">
              <a:buNone/>
            </a:pPr>
            <a:r>
              <a:rPr lang="en-US" sz="13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 semanas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21–27 mar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3494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494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494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mar–3 abr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abr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0946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946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946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11–17 abr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4672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abr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8398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398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8398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abr–1 may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92124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2124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may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858500" y="2377440"/>
            <a:ext cx="937260" cy="411480"/>
          </a:xfrm>
          <a:prstGeom prst="rect">
            <a:avLst/>
          </a:prstGeom>
          <a:solidFill>
            <a:srgbClr val="7B1A2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58500" y="2377440"/>
            <a:ext cx="9372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58500" y="2578608"/>
            <a:ext cx="9372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9–15 may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solidFill>
            <a:srgbClr val="5A132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788920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planificación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2788920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494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0946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8398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2124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58500" y="2788920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172968"/>
            <a:ext cx="384048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 y recursos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9768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34940" y="3172968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0946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8398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2124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58500" y="3172968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557016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557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9768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494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3557016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0946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8398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2124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58500" y="3557016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3941064"/>
            <a:ext cx="384048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941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9768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3494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09460" y="3941064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4672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98398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2124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858500" y="3941064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4325112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4360" y="4325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modelos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29768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3494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7220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0946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46720" y="4325112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8398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2124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58500" y="4325112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7200" y="4709160"/>
            <a:ext cx="384048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" y="4709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ética + Optimización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29768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3494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7220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0946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4672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983980" y="4709160"/>
            <a:ext cx="937260" cy="384048"/>
          </a:xfrm>
          <a:prstGeom prst="rect">
            <a:avLst/>
          </a:prstGeom>
          <a:solidFill>
            <a:srgbClr val="C9A961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83980" y="4709160"/>
            <a:ext cx="937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992124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858500" y="4709160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" y="5093208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4360" y="5093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críticos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29768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3494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7220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0946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4672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8398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21240" y="5093208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858500" y="5093208"/>
            <a:ext cx="9372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" y="5477256"/>
            <a:ext cx="384048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4360" y="54772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429768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23494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7220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10946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04672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8398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921240" y="5477256"/>
            <a:ext cx="937260" cy="384048"/>
          </a:xfrm>
          <a:prstGeom prst="rect">
            <a:avLst/>
          </a:prstGeom>
          <a:solidFill>
            <a:srgbClr val="F8F4F0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858500" y="5477256"/>
            <a:ext cx="937260" cy="384048"/>
          </a:xfrm>
          <a:prstGeom prst="rect">
            <a:avLst/>
          </a:prstGeom>
          <a:solidFill>
            <a:srgbClr val="7B1A2F"/>
          </a:solidFill>
          <a:ln w="3810">
            <a:solidFill>
              <a:srgbClr val="B5859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7200" y="6089904"/>
            <a:ext cx="274320" cy="2286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77240" y="60899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ejecutadas / por ejecutar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572000" y="6089904"/>
            <a:ext cx="274320" cy="228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892040" y="60899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Actividad actual (Reflexión Ética)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26/04/2026  ·  Estamos en la Semana 6  ·  Faltan 3 semanas para el cierre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MARCO CONCEPTUAL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qué bases construimos la reflexión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5532120" cy="914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 et al. (2021)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on Bias and Fairness in 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operativa de sesgos algorítmicos. Distingue sesgos en datos, en algoritmos y en evaluación.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5532120" cy="914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(2023)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GOVERN, MAP, MEASURE y MANAGE. Estándar técnico para gestión de riesgos de 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86200"/>
            <a:ext cx="5532120" cy="914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(UE) 2024/1689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europeo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nivel de riesgo, supervisión humana obligatoria y transparencia hacia usuario.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88620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86200"/>
            <a:ext cx="5532120" cy="914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et al. (2017)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Sensitive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stakeholders directos, indirectos y olvidados. Operacionalización de valores en diseño.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6126480"/>
            <a:ext cx="11338560" cy="4114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Triangulación deliberada: ningún marco aislado captura simultáneamente lo técnico, lo regulatorio y lo participativo.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RIESGOS ÉTICOS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riesgos identificados en el sistema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1463040"/>
                <a:gridCol w="3657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A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por longitud de pregunta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= 0,499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por estructura SQL (JOIN)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= 0,674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por dominio de 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= 0,620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Opacidad y falta de explicabilidad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200 árboles · 85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Riesgos de privacidad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conversacional a BD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Sustitución de criterio humano experto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Visualización + delegación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Inseguridad SQL · ejecución indebida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abierta sin PICARD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1264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riesgos clasificados como ALTA criticidad concentran la mayor parte de las mitigaciones técnicas y operativas que propone el documento.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LOS SESGOS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sesgos cuantificados en cifras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3703320" cy="5486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Longitud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0,499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Ratio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27889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Cortas: 0,821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Largas: 0,409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88920" cy="4114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–41,2 pp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178308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783080"/>
            <a:ext cx="3703320" cy="5486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7830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JOIN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25603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0,674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4297680" y="3886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Ratio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297680"/>
            <a:ext cx="27889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JOIN: 0,752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JOIN: 0,507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5394960"/>
            <a:ext cx="2788920" cy="4114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394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–24,5 pp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178308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783080"/>
            <a:ext cx="3703320" cy="5486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7830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Dominio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25603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0,620</a:t>
            </a:r>
            <a:endParaRPr lang="en-US" sz="8000" dirty="0"/>
          </a:p>
        </p:txBody>
      </p:sp>
      <p:sp>
        <p:nvSpPr>
          <p:cNvPr id="33" name="Text 31"/>
          <p:cNvSpPr/>
          <p:nvPr/>
        </p:nvSpPr>
        <p:spPr>
          <a:xfrm>
            <a:off x="8138160" y="3886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Ratio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4297680"/>
            <a:ext cx="27889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480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car_1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dominios cero-shot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95360" y="5394960"/>
            <a:ext cx="2788920" cy="4114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5394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6172200"/>
            <a:ext cx="11338560" cy="45720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ratios incumplen la regla del 80% de la EEOC. La regla técnica de fairness se viola sistemáticamente.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IMPACTO DIFERENCIAL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grupos reciben los mismos daños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65760" cy="9601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83080"/>
            <a:ext cx="1097280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· Operaciones · Sin 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7452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Asumen el riesgo de SQL incorrecto sin capacidad técnica para detectarlo. Vulnerables al automation bias (Goddard et al., 2012).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365760" cy="9601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862072"/>
            <a:ext cx="1097280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53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73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verbales atípicos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953512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largas obtienen Accuracy 0,409 vs 0,821 de las cortas. Brecha empírica de 41,2 puntos.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41064"/>
            <a:ext cx="365760" cy="96012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41064"/>
            <a:ext cx="1097280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325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3525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representadas en datos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4032504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consintieron, no tienen visibilidad. Riesgo de re-identificación e inferencias no autorizadas.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020056"/>
            <a:ext cx="365760" cy="960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20056"/>
            <a:ext cx="10972800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111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4315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 · Brecha digital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5111496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capacidades visuales y conectividad puede profundizar brechas preexistentes (UNESCO, 2022).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1264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asimétrica de daños es dato relevante para diseñar mitigaciones, no para describir el sistema.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STAKEHOLDERS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actores con valores en juego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7B1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5532120" cy="5029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Interactúan con el sistema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y operaciones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TI / DBAs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5321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5A13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5532120" cy="5029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Afectados sin interactuar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6974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en datos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datos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· Legal · Compliance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5321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5532120" cy="50292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3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reglas del entorno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Datos (Ec.)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Auditores · SRI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UEES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55321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C9A9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023360"/>
            <a:ext cx="553212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023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olvidados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49377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reducida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académica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general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aplicado: Value Sensitive Design (Friedman, Hendry &amp; Borning, 2017).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TENSIONES DE VALOR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reales que exigen decidir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338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2103120" cy="14173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457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17520" y="1783080"/>
            <a:ext cx="2103120" cy="14173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78308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92024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quiere libertad total; TI y reguladores quieren restricciones. Resolución: principio de least privilege (NIST CSF, 2024) — abrir capacidades sólo con evidencia de uso responsable.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1338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2103120" cy="14173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60320" y="3337560"/>
            <a:ext cx="457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17520" y="3337560"/>
            <a:ext cx="2103120" cy="14173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3375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4747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promedio amplifica brechas. Resolución: monitorear simultáneamente desempeño promedio y peor subgrupo; mitigar cuando el segundo se aleja del primero (Selbst et al., 2019).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11338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92040"/>
            <a:ext cx="2103120" cy="14173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9204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60320" y="4892040"/>
            <a:ext cx="457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017520" y="4892040"/>
            <a:ext cx="2103120" cy="14173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89204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502920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 de presentar resultados optimistas; el equipo decidió reportar abiertamente la sospecha de data leakage. Es la única decisión coherente con la integridad investigativa UEES.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IMPACTO SOCIAL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reales del sistema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77240" cy="1965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777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Democratización analítica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4688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ecuatorianas sin equipos de analytics acceden a evidencia para decisiones gerenciales que hoy se toman por intuición.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777240" cy="1965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83080"/>
            <a:ext cx="777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26948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de capacidad técnica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deja de atender consultas ad-hoc rutinarias y se enfoca en problemas que sí exigen criterio experto. Augmentation, no automation.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77640"/>
            <a:ext cx="777240" cy="1965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777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417320" y="4160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Aceleración de decisiones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6634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la latencia entre pregunta de negocio y respuesta. Mejora la capacidad organizacional ante cambios de mercado.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97764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977640"/>
            <a:ext cx="777240" cy="1965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977640"/>
            <a:ext cx="777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269480" y="4160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locales en 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46634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proyecto, desarrollado en UEES y publicado con apertura metodológica, contribuye al ecosistema académico ecuatoriano.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beneficios sólo se materializan plenamente si los riesgos del slide siguiente están adecuadamente gestionados.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DEL IMPACTO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al cronograma del proyecto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703320" cy="9144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 (al 15/05)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868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SQL en consultas complejas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por sesgo de longitud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73152" cy="868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 privacidad sin auditoría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1783080"/>
            <a:ext cx="3703320" cy="91440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8745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97680" y="2331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Post-cierre · 6–24 meses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283464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834640"/>
            <a:ext cx="73152" cy="86868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amplificados al sumar dominios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379476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3794760"/>
            <a:ext cx="73152" cy="86868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794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operativa sin contingencia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75488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4754880"/>
            <a:ext cx="73152" cy="86868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respecto a esquemas que evolucionan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1783080"/>
            <a:ext cx="3703320" cy="9144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18745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38160" y="2331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24 meses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283464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834640"/>
            <a:ext cx="73152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competencias analíticas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379476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794760"/>
            <a:ext cx="73152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3794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Reconfiguración del rol de TI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4754880"/>
            <a:ext cx="37033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4754880"/>
            <a:ext cx="73152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cultural en toma de decisiones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pilares del compromiso operativo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196596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24028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humana significativa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40280" y="26974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siempre visible. Edición humana antes de ejecutar. Decisiones bajo autoridad humana. Art. 14 del Reglamento (UE) 2024/1689.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532120" cy="196596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09244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rendición de cuentas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2440" y="26974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auditable de cada interacción: timestamp, usuario, pregunta, SQL, resultado. Conservación según LOPDP del Ecuador.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532120" cy="196596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240280" y="4206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hacia el usuario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40280" y="4892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pública (Mitchell et al., 2019): subgrupos donde rinde mejor/peor, métricas de equidad por variable sensible.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5532120" cy="196596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14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092440" y="4206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y monitoreo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4892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si DR &lt; 0,80 o F1 &lt; 0,40 en cualquier subgrupo relevante. Revisión humana y reentrenamiento.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DECLARACIÓN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asumidos por el equipo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honestamente todos los hallazgos, incluyendo el data leakage detectado.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000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5000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sistema como herramienta de asistencia, nunca decisor autónomo.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1693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1693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minimización de datos. Sólo SELECT. Sin DDL ni DML por construcción.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8386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83864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continuamente la equidad por subgrupo. Suspender si se degrada.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079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50792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desplegar en producción hasta resolver el data leakage estructural.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61772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una model card actualizada accesible al usuario final.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200" y="5184648"/>
            <a:ext cx="38404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18464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18464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todas las fuentes en APA 7. Respetar la integridad investigativa UEES.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6080760"/>
            <a:ext cx="113385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1722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400" kern="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J. D.   ·   Sánchez Arévalo A. A.   ·   Grupo 1   ·   25 abr — 1 may 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PROYECTO INTEGRADOR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las semanas 7 y 8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338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2743200" cy="21031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08 mayo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063240"/>
            <a:ext cx="91440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 simulación de escenarios críticos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empíricamente las hipótesis de riesgo identificadas hoy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estrés sobre subgrupos vulnerables (longitud, JOIN, dominio)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fallos y degradaciones para el informe final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338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2743200" cy="210312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15 mayo 2026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5349240"/>
            <a:ext cx="91440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8328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 final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83280" y="4846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del informe técnico final con TODAS las fases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oral ante el Comité Académico UEES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formal del proyecto integrador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A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ÉTICA · PROYECTO INTEGRADOR EN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abiertos a observaciones, contraargumentos y mejoras.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9728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89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Joel David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Arévalo Aníbal Andrés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Mg. Alexandra J. Arciniegas 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</a:t>
            </a:r>
            <a:pPr indent="0" marL="0">
              <a:buNone/>
            </a:pPr>
            <a:r>
              <a:rPr lang="en-US" sz="1300" b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marzo — 15 de mayo de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Inteligencia Artificial · Samborondón — Ecuador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Reflexión Ética del Proyecto - Text-to-SQL</dc:title>
  <dc:subject>PptxGenJS Presentation</dc:subject>
  <dc:creator>Cabrera &amp; Sánchez - Grupo 1</dc:creator>
  <cp:lastModifiedBy>Cabrera &amp; Sánchez - Grupo 1</cp:lastModifiedBy>
  <cp:revision>1</cp:revision>
  <dcterms:created xsi:type="dcterms:W3CDTF">2026-04-26T14:14:42Z</dcterms:created>
  <dcterms:modified xsi:type="dcterms:W3CDTF">2026-04-26T14:14:42Z</dcterms:modified>
</cp:coreProperties>
</file>
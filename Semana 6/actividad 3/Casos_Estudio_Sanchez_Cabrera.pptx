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56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ESPECIALIDADES ESPÍRITU SANTO  ·  POSTGRADO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estudio: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exitosos y fallidos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de presentaciones de proyectos de inteligencia artificial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109728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09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   </a:t>
            </a: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Joel David  ·  Sánchez Arévalo Aníbal Andrés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   </a:t>
            </a:r>
            <a:r>
              <a:rPr lang="en-US" sz="13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Alexandra J. Arciniegas C.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  </a:t>
            </a:r>
            <a:r>
              <a:rPr lang="en-US" sz="1300" b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marzo — 15 de mayo de 2026  ·  Semana 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SAMBORONDÓN — ECUADOR  ·  ABRIL 2026  ·  GRUPO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recorrer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dimensiones para evaluar presentaciones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78308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830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seleccionados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fracasos · Dos éxitos · Por qué estos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3464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fallidos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Oncology · Zillow Offers · COMPAS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83464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8346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exitosos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 · GitHub Copilot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88620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862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comparativa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casos × seis dimensiones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388620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38862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3232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identificados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repite en fracasos y en éxitos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7760"/>
            <a:ext cx="640080" cy="8686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9377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Decálogo y aplicación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32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principios para nuestra presentación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MARCO METODOLÓGICO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dimensiones para evaluar una presentación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37033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370332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claramente acotado y justificado?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1783080"/>
            <a:ext cx="37033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783080"/>
            <a:ext cx="370332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26280" y="26517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proporcional al problema?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7033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783080"/>
            <a:ext cx="370332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26517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historia es coherente y honesta?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37033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86200"/>
            <a:ext cx="370332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" y="4754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afirmaciones se respaldan con datos?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97680" y="3886200"/>
            <a:ext cx="37033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3886200"/>
            <a:ext cx="370332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26280" y="4754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realista y limitado?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3886200"/>
            <a:ext cx="37033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886200"/>
            <a:ext cx="370332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210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66760" y="4754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promesa pública se sostuvo?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6126480"/>
            <a:ext cx="11338560" cy="41148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propio basado en Davenport &amp; Ronanki (2018), Schimel (2012) y Reynolds (2020).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CASOS SELECCIONADOS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proyectos representativos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6858000" cy="4434840"/>
          </a:xfrm>
          <a:prstGeom prst="rect">
            <a:avLst/>
          </a:prstGeom>
          <a:solidFill>
            <a:srgbClr val="F2D3D8"/>
          </a:solidFill>
          <a:ln w="8890">
            <a:solidFill>
              <a:srgbClr val="9B2C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6858000" cy="50292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FALLIDOS  ·  3 CASOS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64922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9B2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for Oncology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2013–2022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62M perdidos en MD Anderson.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 a private equity en 2022.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64922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9B2C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Offers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500M+ en pérdidas.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despido del 25% de la plantilla.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6492240" cy="1097280"/>
          </a:xfrm>
          <a:prstGeom prst="rect">
            <a:avLst/>
          </a:prstGeom>
          <a:solidFill>
            <a:srgbClr val="FFFFFF"/>
          </a:solidFill>
          <a:ln w="5080">
            <a:solidFill>
              <a:srgbClr val="9B2C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(Northpointe)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2016–presente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racial documentada.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Litigios y debate académico permanente.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1783080"/>
            <a:ext cx="4206240" cy="4434840"/>
          </a:xfrm>
          <a:prstGeom prst="rect">
            <a:avLst/>
          </a:prstGeom>
          <a:solidFill>
            <a:srgbClr val="EAF1E8"/>
          </a:solidFill>
          <a:ln w="8890">
            <a:solidFill>
              <a:srgbClr val="2D5F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783080"/>
            <a:ext cx="4206240" cy="50292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783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EXITOSOS  ·  2 CASOS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0" y="2423160"/>
            <a:ext cx="3840480" cy="1737360"/>
          </a:xfrm>
          <a:prstGeom prst="rect">
            <a:avLst/>
          </a:prstGeom>
          <a:solidFill>
            <a:srgbClr val="FFFFFF"/>
          </a:solidFill>
          <a:ln w="5080">
            <a:solidFill>
              <a:srgbClr val="2D5F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2020–presente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200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Nobel de Química 2024.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 estructuras predichas.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usuarios en 190 países.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4297680"/>
            <a:ext cx="3840480" cy="1737360"/>
          </a:xfrm>
          <a:prstGeom prst="rect">
            <a:avLst/>
          </a:prstGeom>
          <a:solidFill>
            <a:srgbClr val="FFFFFF"/>
          </a:solidFill>
          <a:ln w="5080">
            <a:solidFill>
              <a:srgbClr val="2D5F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4434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5528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2021–presente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5074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 usuarios (jul 2025).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 Fortune 100 lo usa.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mercado consolidada.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selección: representatividad · verificabilidad · vigencia (2012–2024).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CASO FALLIDO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for Oncology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62M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perdida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uso clínico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pacientes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Atendidos por OEA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9828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Watson Health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26080"/>
            <a:ext cx="548640" cy="123444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Difuso: "erradicar el cáncer"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29260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926080"/>
            <a:ext cx="548640" cy="123444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9260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834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Genérica: NLP sin adaptación clínica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29260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2926080"/>
            <a:ext cx="548640" cy="123444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9260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8239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2396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desde Jeopardy! 2011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297680"/>
            <a:ext cx="548640" cy="123444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976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14300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sintéticos, no validación externa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2976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4297680"/>
            <a:ext cx="548640" cy="123444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42976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98348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8348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 leucemia → pulmón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42976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297680"/>
            <a:ext cx="548640" cy="123444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42976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8239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2396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+ venta Watson Health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el hype narrativo es hipoteca técnica. "Erradicar el cáncer" no es objetivo: es marketing.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CASO FALLIDO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Offers — Colapso del iBuying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500M+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declaradas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en inventario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despedida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783080"/>
            <a:ext cx="278892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02/11/21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9828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 cierre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13385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9B2C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71800"/>
            <a:ext cx="137160" cy="13716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26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280160" y="31089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Hemos sido incapaces de pronosticar con exactitud los precios futuros de las viviendas, en ambas direcciones, por mucho más de lo que modelamos como posible.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886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Rich Barton, CEO Zillow Group · Carta a accionistas · 02 nov 2021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182880" cy="182880"/>
          </a:xfrm>
          <a:prstGeom prst="ellipse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Zestimate no se recalibró cuando el mercado postpandemia se enfrió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182880" cy="182880"/>
          </a:xfrm>
          <a:prstGeom prst="ellipse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acelerado: 3.805 casas en Q2 2021 (&gt;2× el trimestre anterior)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82880" cy="182880"/>
          </a:xfrm>
          <a:prstGeom prst="ellipse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in-sample sin pruebas de robustez ante cambios de régimen del mercado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precisión ≠ robustez. Toda métrica reportada exige condiciones de validez explícitas.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CASO FALLIDO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 — Asimetría racial en evaluación de riesgo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64008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585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ProPublica (2016)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error desagregadas por raza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(clasificado de alto riesgo, no reincide):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00200" y="3200400"/>
            <a:ext cx="1851660" cy="18288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330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3566160"/>
            <a:ext cx="946404" cy="18288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8044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 (clasificado de bajo riesgo, sí reincide):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00200" y="4434840"/>
            <a:ext cx="1152144" cy="18288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43784" y="4389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00200" y="4800600"/>
            <a:ext cx="1975104" cy="18288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Muestra: 7,000+ acusados · Broward County, Florida · 2013-2014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1783080"/>
            <a:ext cx="4754880" cy="4023360"/>
          </a:xfrm>
          <a:prstGeom prst="rect">
            <a:avLst/>
          </a:prstGeom>
          <a:solidFill>
            <a:srgbClr val="F2D3D8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DEBATE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2240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el sistema sesgado?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223760" y="2834640"/>
            <a:ext cx="43891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ProPublica: </a:t>
            </a: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las tasas de error difieren por raza.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Northpointe: </a:t>
            </a: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la calibración es la misma entre grupos.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Chouldechova (2017): </a:t>
            </a: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matemáticamente imposible satisfacer ambos criterios cuando las tasas base difieren.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ninguna métrica agregada basta cuando los costos del error son diferenciales entre grupos.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CASO EXITOSO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 — Google DeepMind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RMSD_95 mediano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públicas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en 190 países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9828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Química 2024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26080"/>
            <a:ext cx="548640" cy="123444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Plegamiento de proteínas: tarea con benchmark de 50 años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29260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926080"/>
            <a:ext cx="548640" cy="123444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29260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98348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Específica: arquitectura Evoformer + atención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29260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2926080"/>
            <a:ext cx="548640" cy="123444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9260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8239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2396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Sobria: dejó que CASP14 declarara la magnitud del avance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297680"/>
            <a:ext cx="548640" cy="123444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976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14300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externa pública + 60 pp. de suplementario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0" y="42976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4297680"/>
            <a:ext cx="548640" cy="123444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42976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98348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8348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 al inicio: estructura monomérica solamente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138160" y="4297680"/>
            <a:ext cx="37033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297680"/>
            <a:ext cx="548640" cy="123444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4297680"/>
            <a:ext cx="548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8239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23960" y="4800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Nobel · base de datos pública · adopción global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la sobriedad narrativa no debilita la propuesta — la fortalece. Que el resultado hable.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CASO EXITOSO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Microsoft + OpenAI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(jul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 lo usa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+55,8%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(RCT)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1783080"/>
            <a:ext cx="278892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78308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98280" y="2286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generado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13385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2D5F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71800"/>
            <a:ext cx="137160" cy="13716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CENTRAL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3375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pair programmer”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7724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Acompañamiento, no sustitución. El humano mantiene autoría y revisión. Augmentation over automation.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09160"/>
            <a:ext cx="182880" cy="182880"/>
          </a:xfrm>
          <a:prstGeom prst="ellipse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experimento controlado (RCT) — Peng et al. (2023)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66360"/>
            <a:ext cx="182880" cy="182880"/>
          </a:xfrm>
          <a:prstGeom prst="ellipse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matizada cuando estudios independientes aportaron contraevidencia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82880" cy="182880"/>
          </a:xfrm>
          <a:prstGeom prst="ellipse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opt-in: el desarrollador acepta o rechaza cada sugerencia individual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la metáfora narrativa correcta posiciona el sistema como aumento, no reemplazo del humano.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MATRIZ COMPARATIVA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casos × seis dimensiones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828800" cy="502920"/>
          </a:xfrm>
          <a:prstGeom prst="rect">
            <a:avLst/>
          </a:prstGeom>
          <a:solidFill>
            <a:srgbClr val="5A132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1783080"/>
            <a:ext cx="1892808" cy="502920"/>
          </a:xfrm>
          <a:prstGeom prst="rect">
            <a:avLst/>
          </a:prstGeom>
          <a:solidFill>
            <a:srgbClr val="5A132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17830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78808" y="1783080"/>
            <a:ext cx="1892808" cy="502920"/>
          </a:xfrm>
          <a:prstGeom prst="rect">
            <a:avLst/>
          </a:prstGeom>
          <a:solidFill>
            <a:srgbClr val="5A132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7830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1616" y="1783080"/>
            <a:ext cx="1892808" cy="502920"/>
          </a:xfrm>
          <a:prstGeom prst="rect">
            <a:avLst/>
          </a:prstGeom>
          <a:solidFill>
            <a:srgbClr val="5A132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7830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64424" y="1783080"/>
            <a:ext cx="1892808" cy="502920"/>
          </a:xfrm>
          <a:prstGeom prst="rect">
            <a:avLst/>
          </a:prstGeom>
          <a:solidFill>
            <a:srgbClr val="5A132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17830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57232" y="1783080"/>
            <a:ext cx="1892808" cy="502920"/>
          </a:xfrm>
          <a:prstGeom prst="rect">
            <a:avLst/>
          </a:prstGeom>
          <a:solidFill>
            <a:srgbClr val="5A132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57232" y="17830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solidFill>
            <a:srgbClr val="7B1A2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286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228600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2860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Difuso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78808" y="228600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8808" y="22860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Acotado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71616" y="228600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22860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Acotado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64424" y="228600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4424" y="22860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Acotado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57232" y="228600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57232" y="22860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Acotado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788920"/>
            <a:ext cx="1828800" cy="502920"/>
          </a:xfrm>
          <a:prstGeom prst="rect">
            <a:avLst/>
          </a:prstGeom>
          <a:solidFill>
            <a:srgbClr val="7B1A2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88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0" y="278892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278892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Genérica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78808" y="2788920"/>
            <a:ext cx="1892808" cy="502920"/>
          </a:xfrm>
          <a:prstGeom prst="rect">
            <a:avLst/>
          </a:prstGeom>
          <a:solidFill>
            <a:srgbClr val="F8E9D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78808" y="278892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Frágil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71616" y="278892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71616" y="278892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Caja negra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64424" y="278892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4424" y="278892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Específica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57232" y="278892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57232" y="278892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Integrada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291840"/>
            <a:ext cx="1828800" cy="502920"/>
          </a:xfrm>
          <a:prstGeom prst="rect">
            <a:avLst/>
          </a:prstGeom>
          <a:solidFill>
            <a:srgbClr val="7B1A2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86000" y="329184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29184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Hype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78808" y="329184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78808" y="329184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Confianza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71616" y="3291840"/>
            <a:ext cx="1892808" cy="502920"/>
          </a:xfrm>
          <a:prstGeom prst="rect">
            <a:avLst/>
          </a:prstGeom>
          <a:solidFill>
            <a:srgbClr val="F8E9D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329184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Objetividad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64424" y="329184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64424" y="329184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Sobria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57232" y="329184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57232" y="329184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Augmentation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3794760"/>
            <a:ext cx="1828800" cy="502920"/>
          </a:xfrm>
          <a:prstGeom prst="rect">
            <a:avLst/>
          </a:prstGeom>
          <a:solidFill>
            <a:srgbClr val="7B1A2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794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286000" y="379476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86000" y="379476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Sintética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178808" y="3794760"/>
            <a:ext cx="1892808" cy="502920"/>
          </a:xfrm>
          <a:prstGeom prst="rect">
            <a:avLst/>
          </a:prstGeom>
          <a:solidFill>
            <a:srgbClr val="F8E9D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78808" y="379476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In-sample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71616" y="3794760"/>
            <a:ext cx="1892808" cy="502920"/>
          </a:xfrm>
          <a:prstGeom prst="rect">
            <a:avLst/>
          </a:prstGeom>
          <a:solidFill>
            <a:srgbClr val="F8E9D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71616" y="379476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Parcial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64424" y="379476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64424" y="379476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CASP14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857232" y="379476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857232" y="379476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RCT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" y="4297680"/>
            <a:ext cx="1828800" cy="502920"/>
          </a:xfrm>
          <a:prstGeom prst="rect">
            <a:avLst/>
          </a:prstGeom>
          <a:solidFill>
            <a:srgbClr val="7B1A2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286000" y="429768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0" y="42976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Cambiante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178808" y="429768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78808" y="42976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Acelerado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071616" y="4297680"/>
            <a:ext cx="1892808" cy="502920"/>
          </a:xfrm>
          <a:prstGeom prst="rect">
            <a:avLst/>
          </a:prstGeom>
          <a:solidFill>
            <a:srgbClr val="F8E9D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71616" y="42976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Despliegue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964424" y="429768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64424" y="42976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Limitado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857232" y="429768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57232" y="429768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Una tarea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57200" y="4800600"/>
            <a:ext cx="1828800" cy="502920"/>
          </a:xfrm>
          <a:prstGeom prst="rect">
            <a:avLst/>
          </a:prstGeom>
          <a:solidFill>
            <a:srgbClr val="7B1A2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4800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2286000" y="480060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86000" y="48006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Cancelado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178808" y="480060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78808" y="48006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500M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071616" y="4800600"/>
            <a:ext cx="1892808" cy="502920"/>
          </a:xfrm>
          <a:prstGeom prst="rect">
            <a:avLst/>
          </a:prstGeom>
          <a:solidFill>
            <a:srgbClr val="F2D3D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71616" y="48006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Litigios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964424" y="480060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64424" y="48006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Nobel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9857232" y="4800600"/>
            <a:ext cx="1892808" cy="502920"/>
          </a:xfrm>
          <a:prstGeom prst="rect">
            <a:avLst/>
          </a:prstGeom>
          <a:solidFill>
            <a:srgbClr val="EAF1E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857232" y="4800600"/>
            <a:ext cx="1892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20M usu.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57200" y="5486400"/>
            <a:ext cx="365760" cy="320040"/>
          </a:xfrm>
          <a:prstGeom prst="rect">
            <a:avLst/>
          </a:prstGeom>
          <a:solidFill>
            <a:srgbClr val="EAF1E8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1440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Fortaleza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4389120" y="5486400"/>
            <a:ext cx="365760" cy="320040"/>
          </a:xfrm>
          <a:prstGeom prst="rect">
            <a:avLst/>
          </a:prstGeom>
          <a:solidFill>
            <a:srgbClr val="F8E9D5"/>
          </a:solidFill>
          <a:ln w="6350">
            <a:solidFill>
              <a:srgbClr val="5A132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4632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Ambiguo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321040" y="5486400"/>
            <a:ext cx="365760" cy="320040"/>
          </a:xfrm>
          <a:prstGeom prst="rect">
            <a:avLst/>
          </a:prstGeom>
          <a:solidFill>
            <a:srgbClr val="F2D3D8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7824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Debilidad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concentración de debilidades en fracasos versus fortalezas en éxitos no es accidente: es patrón replicable.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PATRONES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fracaso en presentaciones de 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338560" cy="91440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amplio  +  Narrativa de hype  =  Fracaso predecible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7033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3703320" cy="50292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Oncology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PROMESA PÚBLICA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"Erradicar el cáncer"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OCURRIÓ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 de leucemia → pulmón. Sin uso clínico.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2926080"/>
            <a:ext cx="37033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926080"/>
            <a:ext cx="3703320" cy="50292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Offers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262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PROMESA PÚBLICA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"Market maker, not market risk taker"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OCURRIÓ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no recalibrado. Pérdidas USD 500M+.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2926080"/>
            <a:ext cx="37033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9B2C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926080"/>
            <a:ext cx="3703320" cy="502920"/>
          </a:xfrm>
          <a:prstGeom prst="rect">
            <a:avLst/>
          </a:prstGeom>
          <a:solidFill>
            <a:srgbClr val="9B2C3F"/>
          </a:solidFill>
          <a:ln w="12700">
            <a:solidFill>
              <a:srgbClr val="9B2C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PROMESA PÚBLICA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"Objetividad estadística"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OCURRIÓ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negra. Disparidades raciales no auditables.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Davenport &amp; Ronanki (2018) lo llaman "moonshot fallacy": problemas complejos con anuncios ambiciosos.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PATRONES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éxito en presentaciones de 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33856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estrecho  +  Narrativa sobria  +  Evidencia abierta  =  Éxito sostenible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1338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64008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Acotar antes de ampliar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se limitó a estructura monomérica. Copilot a una sola tarea: completar código. Las extensiones llegaron después de validar la base.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11338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31920"/>
            <a:ext cx="64008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319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el resultado hable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ganó CASP14 antes de cualquier comunicado significativo. Copilot publicó RCT con +55,8% de velocidad antes que slogans de marketing.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11338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2D5F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937760"/>
            <a:ext cx="640080" cy="914400"/>
          </a:xfrm>
          <a:prstGeom prst="rect">
            <a:avLst/>
          </a:prstGeom>
          <a:solidFill>
            <a:srgbClr val="2D5F3F"/>
          </a:solidFill>
          <a:ln w="12700">
            <a:solidFill>
              <a:srgbClr val="2D5F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5029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5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limitaciones, no solo logros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publicó 60 páginas de suplementario con limitaciones. Copilot reconoció matices cuando estudios independientes los aportaron.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honesta no es ornamento del trabajo técnico: es continuación natural de un proceso riguroso.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DECÁLOGO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principios para una presentación de IA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783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 el problema antes de presentar la solución.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evidencia, no anuncios.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2044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0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 el desempeño por subgrupo.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8912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891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limitaciones explícitamente.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525780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25780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2578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5257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lenguaje hiperbólico.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178308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78308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7830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86600" y="1783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consistencia entre objetivos y métricas.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265176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65176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6517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86600" y="26517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 el sistema como augmentation, no automation.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352044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52044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520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86600" y="3520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código, datos y metodología.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09360" y="438912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38912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38912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08660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y dimensiona los riesgos detectados.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309360" y="5257800"/>
            <a:ext cx="553212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5257800"/>
            <a:ext cx="640080" cy="77724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52578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086600" y="5257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con próximos pasos verificables.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llevamos a la presentación final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11338560" cy="50292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del Proyecto Integrador</a:t>
            </a:r>
            <a:r>
              <a:rPr lang="en-US" sz="130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8: 9–15 de mayo de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228600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46888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"Clasificación de dificultad SQL desde pregunta natural", no "BI conversacional"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82112"/>
            <a:ext cx="228600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821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18211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obligatoria con DR = 0,499 / 0,674 / 0,620 desagregados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95344"/>
            <a:ext cx="228600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9534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3895344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explícito: data leakage, sobreajuste 0,388, RSI mínimo 0,479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08576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608576"/>
            <a:ext cx="228600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0857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hype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4640" y="460857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"revolucionario", "óptimo". Sustituir por "exploratorio bajo restricciones"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321808"/>
            <a:ext cx="1133856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B5859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321808"/>
            <a:ext cx="2286000" cy="64008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3218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4640" y="532180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siempre visible y editable. Sistema como asistente, no decisor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la presentación no podemos defender una afirmación con evidencia interna, no la haremos.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A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IA · CASOS DE ESTUDIO · GRUPO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1320"/>
          </a:solidFill>
          <a:ln w="12700">
            <a:solidFill>
              <a:srgbClr val="5A13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del análisis comparativo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64008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1338560" cy="128016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son replicables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fracasos comparten alcance amplio + narrativa de hype. Los éxitos comparten alcance estrecho + sobriedad + evidencia abierta. No es coincidencia.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1338560" cy="128016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737360" y="34290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predice el resultado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37360" y="38862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presentación honesta es continuación natural de un proceso honesto. Una presentación deshonesta señala un proceso comprometido.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338560" cy="1280160"/>
          </a:xfrm>
          <a:prstGeom prst="rect">
            <a:avLst/>
          </a:prstGeom>
          <a:solidFill>
            <a:srgbClr val="7B1A2F"/>
          </a:solidFill>
          <a:ln w="12700">
            <a:solidFill>
              <a:srgbClr val="7B1A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737360" y="48463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inmediata al Grupo 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53035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Reportaremos abiertamente el data leakage, las disparidades cuantificadas y la fragilidad de robustez. Esta posición fortalece la presentación, no la debilita.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126480"/>
            <a:ext cx="1133856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2179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kern="0" spc="40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J. D.   ·   Sánchez Arévalo A. A.   ·   Grupo 1   ·   Semana 6 de 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A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B58591"/>
          </a:solidFill>
          <a:ln w="12700">
            <a:solidFill>
              <a:srgbClr val="B585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ESTUDIO · PROYECTO INTEGRADOR EN 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Aplicaremos estos diez principios en la presentación final del 9-15 de mayo.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9728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89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Cabrera Parrales Joel David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Sánchez Arévalo Aníbal Andrés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Tutora: Mg. Alexandra J. Arciniegas 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</a:t>
            </a:r>
            <a:r>
              <a:rPr lang="en-US" sz="1300" b="1" dirty="0">
                <a:solidFill>
                  <a:srgbClr val="F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marzo — 15 de mayo de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58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UEES · Maestría en Inteligencia Artificial · Samborondón — Ecuador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1862</Words>
  <Application>Microsoft Office PowerPoint</Application>
  <PresentationFormat>Panorámica</PresentationFormat>
  <Paragraphs>376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Casos de Estudio: Proyectos Exitosos y Fallidos en IA</dc:title>
  <dc:subject>PptxGenJS Presentation</dc:subject>
  <dc:creator>Cabrera &amp; Sánchez - Grupo 1</dc:creator>
  <cp:lastModifiedBy>Andrés Sánchez Arévalo</cp:lastModifiedBy>
  <cp:revision>1</cp:revision>
  <dcterms:created xsi:type="dcterms:W3CDTF">2026-04-26T16:26:05Z</dcterms:created>
  <dcterms:modified xsi:type="dcterms:W3CDTF">2026-04-27T20:33:29Z</dcterms:modified>
</cp:coreProperties>
</file>
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22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941832" cy="502920"/>
          </a:xfrm>
          <a:prstGeom prst="rect">
            <a:avLst/>
          </a:prstGeom>
          <a:solidFill>
            <a:srgbClr val="821538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502920"/>
            <a:ext cx="941832" cy="22860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914400" cy="274320"/>
          </a:xfrm>
          <a:prstGeom prst="rect">
            <a:avLst/>
          </a:prstGeom>
          <a:solidFill>
            <a:srgbClr val="82153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309360"/>
            <a:ext cx="914400" cy="27432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Sánchez-Cabrera · UEES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5379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MASTER">
    <p:bg>
      <p:bgPr>
        <a:solidFill>
          <a:srgbClr val="821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88952" cy="137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5C0D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9107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Inteligencia Artificial · 2026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5379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731520"/>
          </a:xfrm>
          <a:prstGeom prst="rect">
            <a:avLst/>
          </a:prstGeom>
          <a:solidFill>
            <a:srgbClr val="8215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821538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6126480"/>
            <a:ext cx="2313432" cy="73152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0058400" y="0"/>
            <a:ext cx="2130552" cy="1645920"/>
          </a:xfrm>
          <a:prstGeom prst="triangle">
            <a:avLst/>
          </a:prstGeom>
          <a:solidFill>
            <a:srgbClr val="821538"/>
          </a:solidFill>
          <a:ln/>
        </p:spPr>
      </p:sp>
      <p:sp>
        <p:nvSpPr>
          <p:cNvPr id="6" name="Shape 4"/>
          <p:cNvSpPr/>
          <p:nvPr/>
        </p:nvSpPr>
        <p:spPr>
          <a:xfrm flipH="1">
            <a:off x="11247120" y="0"/>
            <a:ext cx="941832" cy="1371600"/>
          </a:xfrm>
          <a:prstGeom prst="triangle">
            <a:avLst/>
          </a:prstGeom>
          <a:solidFill>
            <a:srgbClr val="7F7F7F"/>
          </a:solidFill>
          <a:ln/>
        </p:spPr>
      </p:sp>
      <p:pic>
        <p:nvPicPr>
          <p:cNvPr id="7" name="Image 0" descr="/home/claude/parte7/logo_ue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515" y="723128"/>
            <a:ext cx="1754970" cy="11056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0116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ESPECIALIDADES ESPÍRITU SANTO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3317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ARTIFICIAL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7200" y="33832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Escenarios Críticos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1371600" y="41605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comportamiento del modelo ante condiciones adversas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51206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Cabrera Parrales Joel David  ·  Sánchez Arévalo Aníbal Andrés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54406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Tutora: Mg. Alexandra J. Arciniegas C.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263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Samborondón, Ecuador  ·  Abril 2026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0" y="6263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8215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822960" cy="822960"/>
          </a:xfrm>
          <a:prstGeom prst="ellipse">
            <a:avLst/>
          </a:prstGeom>
          <a:solidFill>
            <a:srgbClr val="821538"/>
          </a:solidFill>
          <a:ln w="12700">
            <a:solidFill>
              <a:srgbClr val="8215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37360" y="13716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configuración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783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· Métrica RSI · Baseline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822960" cy="822960"/>
          </a:xfrm>
          <a:prstGeom prst="ellipse">
            <a:avLst/>
          </a:prstGeom>
          <a:solidFill>
            <a:srgbClr val="821538"/>
          </a:solidFill>
          <a:ln w="12700">
            <a:solidFill>
              <a:srgbClr val="821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13716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ruidosos e incompletos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1783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gaussiano · Inputs atípicos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822960" cy="822960"/>
          </a:xfrm>
          <a:prstGeom prst="ellipse">
            <a:avLst/>
          </a:prstGeom>
          <a:solidFill>
            <a:srgbClr val="821538"/>
          </a:solidFill>
          <a:ln w="12700">
            <a:solidFill>
              <a:srgbClr val="821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37360" y="29260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33375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 · Prior · Adversarial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822960" cy="822960"/>
          </a:xfrm>
          <a:prstGeom prst="ellipse">
            <a:avLst/>
          </a:prstGeom>
          <a:solidFill>
            <a:srgbClr val="821538"/>
          </a:solidFill>
          <a:ln w="12700">
            <a:solidFill>
              <a:srgbClr val="821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0" y="29260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estrés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33375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compuesto · Volumen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480560"/>
            <a:ext cx="822960" cy="822960"/>
          </a:xfrm>
          <a:prstGeom prst="ellipse">
            <a:avLst/>
          </a:prstGeom>
          <a:solidFill>
            <a:srgbClr val="821538"/>
          </a:solidFill>
          <a:ln w="12700">
            <a:solidFill>
              <a:srgbClr val="8215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737360" y="4480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fallos y riesgos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4892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FMEA · Mitigaciones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480560"/>
            <a:ext cx="822960" cy="822960"/>
          </a:xfrm>
          <a:prstGeom prst="ellipse">
            <a:avLst/>
          </a:prstGeom>
          <a:solidFill>
            <a:srgbClr val="821538"/>
          </a:solidFill>
          <a:ln w="12700">
            <a:solidFill>
              <a:srgbClr val="8215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15200" y="4480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4892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integrados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5379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configuración experimental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8215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8215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evaluado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04040"/>
                </a:solidFill>
              </a:rPr>
              <a:t>Random Forest Classifier
</a:t>
            </a:r>
            <a:r>
              <a:rPr lang="en-US" sz="11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Baseline: n_estimators=100, max_depth=None
</a:t>
            </a:r>
            <a:r>
              <a:rPr lang="en-US" sz="1100" dirty="0">
                <a:solidFill>
                  <a:srgbClr val="404040"/>
                </a:solidFill>
              </a:rPr>
              <a:t>Tarea: Clasificación de dificultad SQL (Text-to-SQL)
</a:t>
            </a:r>
            <a:r>
              <a:rPr lang="en-US" sz="1100" i="1" dirty="0">
                <a:solidFill>
                  <a:srgbClr val="404040"/>
                </a:solidFill>
              </a:rPr>
              <a:t>Dataset: Spider (n_validación = 1.034)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18872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8215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robustez (RSI)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6002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RSI = F1_perturbado / F1_baseline
</a:t>
            </a:r>
            <a:r>
              <a:rPr lang="en-US" sz="1100" b="1" dirty="0">
                <a:solidFill>
                  <a:srgbClr val="404040"/>
                </a:solidFill>
              </a:rPr>
              <a:t>Umbrales operativos:
</a:t>
            </a:r>
            <a:r>
              <a:rPr lang="en-US" sz="1100" dirty="0">
                <a:solidFill>
                  <a:srgbClr val="2E7D32"/>
                </a:solidFill>
              </a:rPr>
              <a:t>✅ Robusto: RSI ≥ 0,85
</a:t>
            </a:r>
            <a:r>
              <a:rPr lang="en-US" sz="1100" dirty="0">
                <a:solidFill>
                  <a:srgbClr val="E65100"/>
                </a:solidFill>
              </a:rPr>
              <a:t>⚠ Degradación media: 0,70 ≤ RSI &lt; 0,85
</a:t>
            </a:r>
            <a:r>
              <a:rPr lang="en-US" sz="1100" dirty="0">
                <a:solidFill>
                  <a:srgbClr val="C62828"/>
                </a:solidFill>
              </a:rPr>
              <a:t>❌ Frágil: RSI &lt; 0,70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del modelo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21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4048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0,4448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4626864"/>
            <a:ext cx="2468880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 baseline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3749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21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84048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83280" y="4626864"/>
            <a:ext cx="2468880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global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749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404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84048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17920" y="4626864"/>
            <a:ext cx="2468880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validación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37490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40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384048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052560" y="4626864"/>
            <a:ext cx="2560320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821538"/>
          </a:solidFill>
          <a:ln w="12700">
            <a:solidFill>
              <a:srgbClr val="8215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actividades de la rúbrica: ruido, drift, estrés, análisis de fallos. Diez configuraciones experimentales totales con random_state=42 reproducible.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5379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ruidosos o incompletos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gaussiano · Inputs atípicos · Análisis crítico (25 puntos)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4572000"/>
            <a:ext cx="39593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gaussiano · 4 intensidades evaluadas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82153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943600" cy="2057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perturbado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Robusto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0,05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Robusto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Frágil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Frágil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188720"/>
            <a:ext cx="5029200" cy="4937760"/>
          </a:xfrm>
          <a:prstGeom prst="roundRect">
            <a:avLst>
              <a:gd name="adj" fmla="val 1481"/>
            </a:avLst>
          </a:prstGeom>
          <a:solidFill>
            <a:srgbClr val="F2F2F2"/>
          </a:solidFill>
          <a:ln w="25400">
            <a:solidFill>
              <a:srgbClr val="821538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6858000" y="1280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Punto de quiebre crítico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0" y="1645920"/>
            <a:ext cx="466344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</a:rPr>
              <a:t>El modelo soporta ruido leve (σ ≤ 0,05) sin degradación apreciable.
Pero entre σ = 0,05 y σ = 0,10 ocurre una caída del </a:t>
            </a:r>
            <a:r>
              <a:rPr lang="en-US" sz="1300" b="1" dirty="0">
                <a:solidFill>
                  <a:srgbClr val="C62828"/>
                </a:solidFill>
              </a:rPr>
              <a:t>36% en el RSI</a:t>
            </a:r>
            <a:r>
              <a:rPr lang="en-US" sz="1200" dirty="0">
                <a:solidFill>
                  <a:srgbClr val="404040"/>
                </a:solidFill>
              </a:rPr>
              <a:t>.
Patrón de transición </a:t>
            </a:r>
            <a:r>
              <a:rPr lang="en-US" sz="1200" b="1" dirty="0">
                <a:solidFill>
                  <a:srgbClr val="821538"/>
                </a:solidFill>
              </a:rPr>
              <a:t>abrupta</a:t>
            </a:r>
            <a:r>
              <a:rPr lang="en-US" sz="1200" dirty="0">
                <a:solidFill>
                  <a:srgbClr val="404040"/>
                </a:solidFill>
              </a:rPr>
              <a:t> (no lineal): el clasificador opera cerca de un límite de decisión estable que colapsa al cruzar un umbral crítico.
</a:t>
            </a:r>
            <a:r>
              <a:rPr lang="en-US" sz="1200" b="1" dirty="0">
                <a:solidFill>
                  <a:srgbClr val="821538"/>
                </a:solidFill>
              </a:rPr>
              <a:t>Implicación operativa:
</a:t>
            </a:r>
            <a:r>
              <a:rPr lang="en-US" sz="1100" dirty="0">
                <a:solidFill>
                  <a:srgbClr val="404040"/>
                </a:solidFill>
              </a:rPr>
              <a:t>Documentar σ = 0,05 como </a:t>
            </a:r>
            <a:r>
              <a:rPr lang="en-US" sz="1100" b="1" dirty="0">
                <a:solidFill>
                  <a:srgbClr val="404040"/>
                </a:solidFill>
              </a:rPr>
              <a:t>tolerancia máxima</a:t>
            </a:r>
            <a:r>
              <a:rPr lang="en-US" sz="1100" dirty="0">
                <a:solidFill>
                  <a:srgbClr val="404040"/>
                </a:solidFill>
              </a:rPr>
              <a:t> del modelo en producción.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incompletos · Inputs atípicos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114800"/>
            <a:ext cx="59436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2062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Subconjunto: preguntas &lt;10 palabras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52628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04040"/>
                </a:solidFill>
              </a:rPr>
              <a:t>Accuracy = 0,82  ·  RSI = 0,98
</a:t>
            </a:r>
            <a:r>
              <a:rPr lang="en-US" sz="1100" i="1" dirty="0">
                <a:solidFill>
                  <a:srgbClr val="404040"/>
                </a:solidFill>
              </a:rPr>
              <a:t>Resiliencia inesperada: las preguntas extremadamente cortas suelen ser más simples sintácticamente. La representación TF-IDF compensa la pérdida de información léxica.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5379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la distribución de datos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 drift · Prior drift · Análisis adversarial (20 puntos)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4572000"/>
            <a:ext cx="39593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· Covariate, Prior y Adversarial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82153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perturbado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Preguntas cortas (&lt;10 pal.)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Robusto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Preguntas largas (&gt;15 pal.)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0,3981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Robusto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extra (sobrerrepres.)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Degradación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Sinónimos (p=0,5)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Robusto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11247120" cy="2103120"/>
          </a:xfrm>
          <a:prstGeom prst="roundRect">
            <a:avLst>
              <a:gd name="adj" fmla="val 3478"/>
            </a:avLst>
          </a:prstGeom>
          <a:solidFill>
            <a:srgbClr val="821538"/>
          </a:solidFill>
          <a:ln w="12700">
            <a:solidFill>
              <a:srgbClr val="82153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5720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•  </a:t>
            </a:r>
            <a:r>
              <a:rPr lang="en-US" sz="1300" b="1" dirty="0">
                <a:solidFill>
                  <a:srgbClr val="FFFFFF"/>
                </a:solidFill>
              </a:rPr>
              <a:t>Covariate drift tolerable: </a:t>
            </a:r>
            <a:r>
              <a:rPr lang="en-US" sz="1200" dirty="0">
                <a:solidFill>
                  <a:srgbClr val="FFFFFF"/>
                </a:solidFill>
              </a:rPr>
              <a:t>el modelo conserva RSI ≥ 0,89 ante cambios de longitud, aunque emerge sensibilidad latente al estilo verboso.
</a:t>
            </a:r>
            <a:r>
              <a:rPr lang="en-US" sz="1300" dirty="0">
                <a:solidFill>
                  <a:srgbClr val="FFFFFF"/>
                </a:solidFill>
              </a:rPr>
              <a:t>•  </a:t>
            </a:r>
            <a:r>
              <a:rPr lang="en-US" sz="1300" b="1" dirty="0">
                <a:solidFill>
                  <a:srgbClr val="FFFFFF"/>
                </a:solidFill>
              </a:rPr>
              <a:t>Prior drift es el riesgo silencioso más probable: </a:t>
            </a:r>
            <a:r>
              <a:rPr lang="en-US" sz="1200" dirty="0">
                <a:solidFill>
                  <a:srgbClr val="FFFFFF"/>
                </a:solidFill>
              </a:rPr>
              <a:t>RSI = 0,809 cae en zona de alerta sin alcanzar fragilidad. Lu et al. (2018) advierten que es difícil de detectar sin monitoreo del PSI.
</a:t>
            </a:r>
            <a:r>
              <a:rPr lang="en-US" sz="1300" dirty="0">
                <a:solidFill>
                  <a:srgbClr val="FFFFFF"/>
                </a:solidFill>
              </a:rPr>
              <a:t>•  </a:t>
            </a:r>
            <a:r>
              <a:rPr lang="en-US" sz="1300" b="1" dirty="0">
                <a:solidFill>
                  <a:srgbClr val="FFFFFF"/>
                </a:solidFill>
              </a:rPr>
              <a:t>Adversarial leve: </a:t>
            </a:r>
            <a:r>
              <a:rPr lang="en-US" sz="1200" dirty="0">
                <a:solidFill>
                  <a:srgbClr val="FFFFFF"/>
                </a:solidFill>
              </a:rPr>
              <a:t>la sustitución por sinónimos no afecta al modelo (RSI = 1,01), confirmando que la representación TF-IDF tolera variabilidad léxica.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5379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estrés del modelo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compuesto · Estabilidad · Inputs extremos (25 puntos)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4572000"/>
            <a:ext cx="39593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Estrés compuesto · Peor caso documentado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8215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individuales vs. compuesto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cortas (drift)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= 0,979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166360" y="1828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Sinónimos (adversarial)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2240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= 1,014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828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61120" y="1828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σ=0,1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0" y="2240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= 0,639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+ C simultáneo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11247120" cy="2286000"/>
          </a:xfrm>
          <a:prstGeom prst="roundRect">
            <a:avLst>
              <a:gd name="adj" fmla="val 4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69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COMPUESTO (PEOR CASO)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RSI = </a:t>
            </a:r>
            <a:r>
              <a:rPr lang="en-US" sz="5600" b="1" dirty="0">
                <a:solidFill>
                  <a:srgbClr val="FFFFFF"/>
                </a:solidFill>
              </a:rPr>
              <a:t>0,479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interacción entre perturbaciones es multiplicativa, no aditiva (Hendrycks &amp; Dietterich, 2019).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perturbaciones aisladas tiende a sobreestimar la fiabilidad del modelo en producción real.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5379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Score Index · Consolidado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821538"/>
            </a:solidFill>
            <a:prstDash val="solid"/>
          </a:ln>
        </p:spPr>
      </p:sp>
      <p:pic>
        <p:nvPicPr>
          <p:cNvPr id="4" name="Image 0" descr="/home/claude/parte7/figs/fig_robuste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124712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5379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fallos y riesgos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FMEA · Mitigaciones priorizadas (20 puntos)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4572000"/>
            <a:ext cx="39593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fallos y riesgos identificados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82153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22860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de fallo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 recomendada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2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Ruido gaussiano alto (σ ≥ 0,1)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robusto + embeddings BERT preentrenados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2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de distribución de clases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 PSI continuo + reentrenamiento si PSI &gt; 0,25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2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Sesgo por longitud de pregunta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 + pérdida ponderada por grupo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2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Estrés compuesto en producción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de regresión compuestas + sistema de 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11247120" cy="192024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 w="19050">
            <a:solidFill>
              <a:srgbClr val="82153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por RPN (Risk Priority Number)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754880"/>
            <a:ext cx="10972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🔴  </a:t>
            </a:r>
            <a:r>
              <a:rPr lang="en-US" sz="1300" b="1" dirty="0">
                <a:solidFill>
                  <a:srgbClr val="C62828"/>
                </a:solidFill>
              </a:rPr>
              <a:t>F4 (estrés compuesto)</a:t>
            </a:r>
            <a:r>
              <a:rPr lang="en-US" sz="1200" dirty="0">
                <a:solidFill>
                  <a:srgbClr val="404040"/>
                </a:solidFill>
              </a:rPr>
              <a:t> — máxima severidad: justifica pipeline obligatorio de pruebas de regresión.
</a:t>
            </a:r>
            <a:r>
              <a:rPr lang="en-US" sz="1400" dirty="0">
                <a:solidFill>
                  <a:srgbClr val="000000"/>
                </a:solidFill>
              </a:rPr>
              <a:t>🟠  </a:t>
            </a:r>
            <a:r>
              <a:rPr lang="en-US" sz="1300" b="1" dirty="0">
                <a:solidFill>
                  <a:srgbClr val="E65100"/>
                </a:solidFill>
              </a:rPr>
              <a:t>F2 (drift de clases)</a:t>
            </a:r>
            <a:r>
              <a:rPr lang="en-US" sz="1200" dirty="0">
                <a:solidFill>
                  <a:srgbClr val="404040"/>
                </a:solidFill>
              </a:rPr>
              <a:t> — máxima probabilidad: monitoreo continuo del PSI con alertas automáticas.
</a:t>
            </a:r>
            <a:r>
              <a:rPr lang="en-US" sz="1400" dirty="0">
                <a:solidFill>
                  <a:srgbClr val="000000"/>
                </a:solidFill>
              </a:rPr>
              <a:t>🟡  </a:t>
            </a:r>
            <a:r>
              <a:rPr lang="en-US" sz="1300" b="1" dirty="0">
                <a:solidFill>
                  <a:srgbClr val="E65100"/>
                </a:solidFill>
              </a:rPr>
              <a:t>F3 (sesgo por longitud)</a:t>
            </a:r>
            <a:r>
              <a:rPr lang="en-US" sz="1200" dirty="0">
                <a:solidFill>
                  <a:srgbClr val="404040"/>
                </a:solidFill>
              </a:rPr>
              <a:t> — persistente: ya documentado en evaluaciones previas, requiere mitigación combinada.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5379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2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· Cuatro hallazgos principales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8215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ante perturbaciones leves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5074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σ ≤ 0,05, drift moderado y ataques adversariales superficiales: RSI ≥ 0,89.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371600"/>
            <a:ext cx="640080" cy="6400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086600" y="1417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Fragilidad ante ruido moderado-alto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5074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abrupta entre σ = 0,05 y σ = 0,10. Define el límite operativo del modelo.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862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ante estrés compuesto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617720"/>
            <a:ext cx="5074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= 0,479 (peor caso). Las perturbaciones interactúan multiplicativamente.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886200"/>
            <a:ext cx="640080" cy="6400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086600" y="39319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 clases como riesgo silencioso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4617720"/>
            <a:ext cx="5074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= 0,809: zona de alerta. Alta probabilidad en producción, requiere monitoreo continuo.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5379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821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0" y="0"/>
            <a:ext cx="2286000" cy="1828800"/>
          </a:xfrm>
          <a:prstGeom prst="triangle">
            <a:avLst/>
          </a:prstGeom>
          <a:solidFill>
            <a:srgbClr val="5C0D2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5029200"/>
            <a:ext cx="2313432" cy="1828800"/>
          </a:xfrm>
          <a:prstGeom prst="triangle">
            <a:avLst/>
          </a:prstGeom>
          <a:solidFill>
            <a:srgbClr val="5C0D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discusión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270248" y="3017520"/>
            <a:ext cx="3657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clave (APA 7ª ed.)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9418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Gama, J. et al. (2014). A survey on concept drift adaptation. ACM Computing Surveys.
Hendrycks, D. &amp; Dietterich, T. (2019). Benchmarking neural network robustness. ICLR.
Lu, J. et al. (2018). Learning under concept drift: A review. IEEE TKDE.
Morris, J. X. et al. (2020). TextAttack: A framework for adversarial attacks. EMNLP.
Probst, P. et al. (2019). HP and tuning strategies for Random Forest. WIREs DM.
Yu, T. et al. (2018). Spider: A large-scale dataset for text-to-SQL. EMNLP.
Goodfellow, I. et al. (2015). Explaining and harnessing adversarial examples. ICLR.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5C0D2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217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Cabrera Parrales Joel David · Sánchez Arévalo Aníbal Andrés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2F2F2"/>
                </a:solidFill>
              </a:rPr>
              <a:t>Tutora: Mg. Alexandra J. Arciniegas C.  |  UEES · Maestría en IA · Abril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Microsoft Office PowerPoint</Application>
  <PresentationFormat>Panorámica</PresentationFormat>
  <Paragraphs>196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UEES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- Simulación de Escenarios Críticos</dc:title>
  <dc:subject>PptxGenJS Presentation</dc:subject>
  <dc:creator>Grupo Sánchez-Cabrera</dc:creator>
  <cp:lastModifiedBy>Andrés Sánchez Arévalo</cp:lastModifiedBy>
  <cp:revision>2</cp:revision>
  <dcterms:created xsi:type="dcterms:W3CDTF">2026-04-25T03:12:29Z</dcterms:created>
  <dcterms:modified xsi:type="dcterms:W3CDTF">2026-04-25T03:17:38Z</dcterms:modified>
</cp:coreProperties>
</file>
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13" d="100"/>
          <a:sy n="113" d="100"/>
        </p:scale>
        <p:origin x="474" y="11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5260890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M">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1247120" y="0"/>
            <a:ext cx="941832" cy="502920"/>
          </a:xfrm>
          <a:prstGeom prst="rect">
            <a:avLst/>
          </a:prstGeom>
          <a:solidFill>
            <a:srgbClr val="821538"/>
          </a:solidFill>
          <a:ln/>
        </p:spPr>
      </p:sp>
      <p:sp>
        <p:nvSpPr>
          <p:cNvPr id="3" name="Shape 1"/>
          <p:cNvSpPr/>
          <p:nvPr/>
        </p:nvSpPr>
        <p:spPr>
          <a:xfrm>
            <a:off x="11247120" y="502920"/>
            <a:ext cx="941832" cy="228600"/>
          </a:xfrm>
          <a:prstGeom prst="rect">
            <a:avLst/>
          </a:prstGeom>
          <a:solidFill>
            <a:srgbClr val="7F7F7F"/>
          </a:solidFill>
          <a:ln/>
        </p:spPr>
      </p:sp>
      <p:sp>
        <p:nvSpPr>
          <p:cNvPr id="4" name="Shape 2"/>
          <p:cNvSpPr/>
          <p:nvPr/>
        </p:nvSpPr>
        <p:spPr>
          <a:xfrm>
            <a:off x="0" y="6583680"/>
            <a:ext cx="914400" cy="274320"/>
          </a:xfrm>
          <a:prstGeom prst="rect">
            <a:avLst/>
          </a:prstGeom>
          <a:solidFill>
            <a:srgbClr val="821538"/>
          </a:solidFill>
          <a:ln/>
        </p:spPr>
      </p:sp>
      <p:sp>
        <p:nvSpPr>
          <p:cNvPr id="5" name="Shape 3"/>
          <p:cNvSpPr/>
          <p:nvPr/>
        </p:nvSpPr>
        <p:spPr>
          <a:xfrm>
            <a:off x="0" y="6309360"/>
            <a:ext cx="914400" cy="274320"/>
          </a:xfrm>
          <a:prstGeom prst="rect">
            <a:avLst/>
          </a:prstGeom>
          <a:solidFill>
            <a:srgbClr val="7F7F7F"/>
          </a:solidFill>
          <a:ln/>
        </p:spPr>
      </p:sp>
      <p:sp>
        <p:nvSpPr>
          <p:cNvPr id="6" name="Text 4"/>
          <p:cNvSpPr/>
          <p:nvPr/>
        </p:nvSpPr>
        <p:spPr>
          <a:xfrm>
            <a:off x="8686800" y="6537960"/>
            <a:ext cx="3200400" cy="274320"/>
          </a:xfrm>
          <a:prstGeom prst="rect">
            <a:avLst/>
          </a:prstGeom>
          <a:noFill/>
          <a:ln/>
        </p:spPr>
        <p:txBody>
          <a:bodyPr wrap="square" rtlCol="0" anchor="ctr"/>
          <a:lstStyle/>
          <a:p>
            <a:pPr marL="0" indent="0" algn="r">
              <a:buNone/>
            </a:pPr>
            <a:r>
              <a:rPr lang="en-US" sz="900" i="1" dirty="0">
                <a:solidFill>
                  <a:srgbClr val="404040"/>
                </a:solidFill>
                <a:latin typeface="Calibri" pitchFamily="34" charset="0"/>
                <a:ea typeface="Calibri" pitchFamily="34" charset="-122"/>
                <a:cs typeface="Calibri" pitchFamily="34" charset="-120"/>
              </a:rPr>
              <a:t>Grupo Sánchez-Cabrera · UEES 2026</a:t>
            </a:r>
            <a:endParaRPr lang="en-US" sz="900" dirty="0"/>
          </a:p>
        </p:txBody>
      </p:sp>
      <p:sp>
        <p:nvSpPr>
          <p:cNvPr id="25" name="Slide Number Placeholder 0"/>
          <p:cNvSpPr>
            <a:spLocks noGrp="1"/>
          </p:cNvSpPr>
          <p:nvPr>
            <p:ph type="sldNum" sz="quarter" idx="4294967295"/>
          </p:nvPr>
        </p:nvSpPr>
        <p:spPr>
          <a:xfrm>
            <a:off x="8412480" y="653796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404040"/>
                </a:solidFill>
                <a:latin typeface="Calibri"/>
                <a:ea typeface="Calibri"/>
                <a:cs typeface="Calibri"/>
              </a:defRPr>
            </a:lvl1pPr>
          </a:lstStyle>
          <a:p>
            <a:pPr algn="r"/>
            <a:fld id="{F7021451-1387-4CA6-816F-3879F97B5CBC}" type="slidenum">
              <a:rPr lang="en-US" b="0"/>
              <a:t>‹Nº›</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M">
    <p:bg>
      <p:bgPr>
        <a:solidFill>
          <a:srgbClr val="821538"/>
        </a:solidFill>
        <a:effectLst/>
      </p:bgPr>
    </p:bg>
    <p:spTree>
      <p:nvGrpSpPr>
        <p:cNvPr id="1" name=""/>
        <p:cNvGrpSpPr/>
        <p:nvPr/>
      </p:nvGrpSpPr>
      <p:grpSpPr>
        <a:xfrm>
          <a:off x="0" y="0"/>
          <a:ext cx="0" cy="0"/>
          <a:chOff x="0" y="0"/>
          <a:chExt cx="0" cy="0"/>
        </a:xfrm>
      </p:grpSpPr>
      <p:sp>
        <p:nvSpPr>
          <p:cNvPr id="2" name="Shape 0"/>
          <p:cNvSpPr/>
          <p:nvPr/>
        </p:nvSpPr>
        <p:spPr>
          <a:xfrm>
            <a:off x="0" y="6035040"/>
            <a:ext cx="12188952" cy="137160"/>
          </a:xfrm>
          <a:prstGeom prst="rect">
            <a:avLst/>
          </a:prstGeom>
          <a:solidFill>
            <a:srgbClr val="FFFFFF"/>
          </a:solidFill>
          <a:ln/>
        </p:spPr>
      </p:sp>
      <p:sp>
        <p:nvSpPr>
          <p:cNvPr id="3" name="Shape 1"/>
          <p:cNvSpPr/>
          <p:nvPr/>
        </p:nvSpPr>
        <p:spPr>
          <a:xfrm>
            <a:off x="0" y="6172200"/>
            <a:ext cx="12188952" cy="685800"/>
          </a:xfrm>
          <a:prstGeom prst="rect">
            <a:avLst/>
          </a:prstGeom>
          <a:solidFill>
            <a:srgbClr val="5C0D28"/>
          </a:solidFill>
          <a:ln/>
        </p:spPr>
      </p:sp>
      <p:sp>
        <p:nvSpPr>
          <p:cNvPr id="4" name="Text 2"/>
          <p:cNvSpPr/>
          <p:nvPr/>
        </p:nvSpPr>
        <p:spPr>
          <a:xfrm>
            <a:off x="457200" y="6291072"/>
            <a:ext cx="11274552" cy="365760"/>
          </a:xfrm>
          <a:prstGeom prst="rect">
            <a:avLst/>
          </a:prstGeom>
          <a:noFill/>
          <a:ln/>
        </p:spPr>
        <p:txBody>
          <a:bodyPr wrap="square" rtlCol="0" anchor="ctr"/>
          <a:lstStyle/>
          <a:p>
            <a:pPr marL="0" indent="0" algn="ctr">
              <a:buNone/>
            </a:pPr>
            <a:r>
              <a:rPr lang="en-US" sz="1100" i="1" dirty="0">
                <a:solidFill>
                  <a:srgbClr val="FFFFFF"/>
                </a:solidFill>
                <a:latin typeface="Calibri" pitchFamily="34" charset="0"/>
                <a:ea typeface="Calibri" pitchFamily="34" charset="-122"/>
                <a:cs typeface="Calibri" pitchFamily="34" charset="-120"/>
              </a:rPr>
              <a:t>UEES · Maestría en Inteligencia Artificial · 2026</a:t>
            </a:r>
            <a:endParaRPr lang="en-US" sz="11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412480" y="653796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404040"/>
                </a:solidFill>
                <a:latin typeface="Calibri"/>
                <a:ea typeface="Calibri"/>
                <a:cs typeface="Calibri"/>
              </a:defRPr>
            </a:lvl1pPr>
          </a:lstStyle>
          <a:p>
            <a:pPr algn="r"/>
            <a:fld id="{F7021451-1387-4CA6-816F-3879F97B5CBC}" type="slidenum">
              <a:rPr lang="en-US" b="0"/>
              <a:t>‹Nº›</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2286000" cy="731520"/>
          </a:xfrm>
          <a:prstGeom prst="rect">
            <a:avLst/>
          </a:prstGeom>
          <a:solidFill>
            <a:srgbClr val="821538"/>
          </a:solidFill>
          <a:ln/>
        </p:spPr>
      </p:sp>
      <p:sp>
        <p:nvSpPr>
          <p:cNvPr id="3" name="Shape 1"/>
          <p:cNvSpPr/>
          <p:nvPr/>
        </p:nvSpPr>
        <p:spPr>
          <a:xfrm>
            <a:off x="0" y="6126480"/>
            <a:ext cx="12188952" cy="731520"/>
          </a:xfrm>
          <a:prstGeom prst="rect">
            <a:avLst/>
          </a:prstGeom>
          <a:solidFill>
            <a:srgbClr val="821538"/>
          </a:solidFill>
          <a:ln/>
        </p:spPr>
      </p:sp>
      <p:sp>
        <p:nvSpPr>
          <p:cNvPr id="4" name="Shape 2"/>
          <p:cNvSpPr/>
          <p:nvPr/>
        </p:nvSpPr>
        <p:spPr>
          <a:xfrm>
            <a:off x="9875520" y="6126480"/>
            <a:ext cx="2313432" cy="731520"/>
          </a:xfrm>
          <a:prstGeom prst="rect">
            <a:avLst/>
          </a:prstGeom>
          <a:solidFill>
            <a:srgbClr val="7F7F7F"/>
          </a:solidFill>
          <a:ln/>
        </p:spPr>
      </p:sp>
      <p:sp>
        <p:nvSpPr>
          <p:cNvPr id="5" name="Shape 3"/>
          <p:cNvSpPr/>
          <p:nvPr/>
        </p:nvSpPr>
        <p:spPr>
          <a:xfrm flipH="1">
            <a:off x="10058400" y="0"/>
            <a:ext cx="2130552" cy="1645920"/>
          </a:xfrm>
          <a:prstGeom prst="triangle">
            <a:avLst/>
          </a:prstGeom>
          <a:solidFill>
            <a:srgbClr val="821538"/>
          </a:solidFill>
          <a:ln/>
        </p:spPr>
      </p:sp>
      <p:sp>
        <p:nvSpPr>
          <p:cNvPr id="6" name="Shape 4"/>
          <p:cNvSpPr/>
          <p:nvPr/>
        </p:nvSpPr>
        <p:spPr>
          <a:xfrm flipH="1">
            <a:off x="11247120" y="0"/>
            <a:ext cx="941832" cy="1371600"/>
          </a:xfrm>
          <a:prstGeom prst="triangle">
            <a:avLst/>
          </a:prstGeom>
          <a:solidFill>
            <a:srgbClr val="7F7F7F"/>
          </a:solidFill>
          <a:ln/>
        </p:spPr>
      </p:sp>
      <p:pic>
        <p:nvPicPr>
          <p:cNvPr id="7" name="Image 0" descr="/home/claude/parte8/logo_uees.png"/>
          <p:cNvPicPr>
            <a:picLocks noChangeAspect="1"/>
          </p:cNvPicPr>
          <p:nvPr/>
        </p:nvPicPr>
        <p:blipFill>
          <a:blip r:embed="rId3"/>
          <a:stretch>
            <a:fillRect/>
          </a:stretch>
        </p:blipFill>
        <p:spPr>
          <a:xfrm>
            <a:off x="5112682" y="731520"/>
            <a:ext cx="1966636" cy="1229622"/>
          </a:xfrm>
          <a:prstGeom prst="rect">
            <a:avLst/>
          </a:prstGeom>
        </p:spPr>
      </p:pic>
      <p:sp>
        <p:nvSpPr>
          <p:cNvPr id="8" name="Text 5"/>
          <p:cNvSpPr/>
          <p:nvPr/>
        </p:nvSpPr>
        <p:spPr>
          <a:xfrm>
            <a:off x="914400" y="2011680"/>
            <a:ext cx="10360152" cy="365760"/>
          </a:xfrm>
          <a:prstGeom prst="rect">
            <a:avLst/>
          </a:prstGeom>
          <a:noFill/>
          <a:ln/>
        </p:spPr>
        <p:txBody>
          <a:bodyPr wrap="square" rtlCol="0" anchor="ctr"/>
          <a:lstStyle/>
          <a:p>
            <a:pPr marL="0" indent="0" algn="ctr">
              <a:buNone/>
            </a:pPr>
            <a:r>
              <a:rPr lang="en-US" sz="1400" b="1" dirty="0">
                <a:solidFill>
                  <a:srgbClr val="404040"/>
                </a:solidFill>
                <a:latin typeface="Calibri" pitchFamily="34" charset="0"/>
                <a:ea typeface="Calibri" pitchFamily="34" charset="-122"/>
                <a:cs typeface="Calibri" pitchFamily="34" charset="-120"/>
              </a:rPr>
              <a:t>UNIVERSIDAD DE ESPECIALIDADES ESPÍRITU SANTO</a:t>
            </a:r>
            <a:endParaRPr lang="en-US" sz="1400" dirty="0"/>
          </a:p>
        </p:txBody>
      </p:sp>
      <p:sp>
        <p:nvSpPr>
          <p:cNvPr id="9" name="Text 6"/>
          <p:cNvSpPr/>
          <p:nvPr/>
        </p:nvSpPr>
        <p:spPr>
          <a:xfrm>
            <a:off x="914400" y="2331720"/>
            <a:ext cx="10360152" cy="274320"/>
          </a:xfrm>
          <a:prstGeom prst="rect">
            <a:avLst/>
          </a:prstGeom>
          <a:noFill/>
          <a:ln/>
        </p:spPr>
        <p:txBody>
          <a:bodyPr wrap="square" rtlCol="0" anchor="ctr"/>
          <a:lstStyle/>
          <a:p>
            <a:pPr marL="0" indent="0" algn="ctr">
              <a:buNone/>
            </a:pPr>
            <a:r>
              <a:rPr lang="en-US" sz="1200" dirty="0">
                <a:solidFill>
                  <a:srgbClr val="7F7F7F"/>
                </a:solidFill>
                <a:latin typeface="Calibri" pitchFamily="34" charset="0"/>
                <a:ea typeface="Calibri" pitchFamily="34" charset="-122"/>
                <a:cs typeface="Calibri" pitchFamily="34" charset="-120"/>
              </a:rPr>
              <a:t>MAESTRÍA EN INTELIGENCIA ARTIFICIAL</a:t>
            </a:r>
            <a:endParaRPr lang="en-US" sz="1200" dirty="0"/>
          </a:p>
        </p:txBody>
      </p:sp>
      <p:sp>
        <p:nvSpPr>
          <p:cNvPr id="10" name="Text 7"/>
          <p:cNvSpPr/>
          <p:nvPr/>
        </p:nvSpPr>
        <p:spPr>
          <a:xfrm>
            <a:off x="457200" y="2834640"/>
            <a:ext cx="11274552" cy="640080"/>
          </a:xfrm>
          <a:prstGeom prst="rect">
            <a:avLst/>
          </a:prstGeom>
          <a:noFill/>
          <a:ln/>
        </p:spPr>
        <p:txBody>
          <a:bodyPr wrap="square" rtlCol="0" anchor="ctr"/>
          <a:lstStyle/>
          <a:p>
            <a:pPr marL="0" indent="0" algn="ctr">
              <a:buNone/>
            </a:pPr>
            <a:r>
              <a:rPr lang="en-US" sz="2800" b="1" dirty="0">
                <a:solidFill>
                  <a:srgbClr val="404040"/>
                </a:solidFill>
                <a:latin typeface="Calibri" pitchFamily="34" charset="0"/>
                <a:ea typeface="Calibri" pitchFamily="34" charset="-122"/>
                <a:cs typeface="Calibri" pitchFamily="34" charset="-120"/>
              </a:rPr>
              <a:t>Informe Técnico</a:t>
            </a:r>
            <a:endParaRPr lang="en-US" sz="2800" dirty="0"/>
          </a:p>
        </p:txBody>
      </p:sp>
      <p:sp>
        <p:nvSpPr>
          <p:cNvPr id="11" name="Text 8"/>
          <p:cNvSpPr/>
          <p:nvPr/>
        </p:nvSpPr>
        <p:spPr>
          <a:xfrm>
            <a:off x="457200" y="3383280"/>
            <a:ext cx="11274552" cy="640080"/>
          </a:xfrm>
          <a:prstGeom prst="rect">
            <a:avLst/>
          </a:prstGeom>
          <a:noFill/>
          <a:ln/>
        </p:spPr>
        <p:txBody>
          <a:bodyPr wrap="square" rtlCol="0" anchor="ctr"/>
          <a:lstStyle/>
          <a:p>
            <a:pPr marL="0" indent="0" algn="ctr">
              <a:buNone/>
            </a:pPr>
            <a:r>
              <a:rPr lang="en-US" sz="3800" b="1" dirty="0">
                <a:solidFill>
                  <a:srgbClr val="821538"/>
                </a:solidFill>
                <a:latin typeface="Calibri" pitchFamily="34" charset="0"/>
                <a:ea typeface="Calibri" pitchFamily="34" charset="-122"/>
                <a:cs typeface="Calibri" pitchFamily="34" charset="-120"/>
              </a:rPr>
              <a:t>Evaluación Avanzada y Optimización</a:t>
            </a:r>
            <a:endParaRPr lang="en-US" sz="3800" dirty="0"/>
          </a:p>
        </p:txBody>
      </p:sp>
      <p:sp>
        <p:nvSpPr>
          <p:cNvPr id="12" name="Text 9"/>
          <p:cNvSpPr/>
          <p:nvPr/>
        </p:nvSpPr>
        <p:spPr>
          <a:xfrm>
            <a:off x="457200" y="3931920"/>
            <a:ext cx="11274552" cy="457200"/>
          </a:xfrm>
          <a:prstGeom prst="rect">
            <a:avLst/>
          </a:prstGeom>
          <a:noFill/>
          <a:ln/>
        </p:spPr>
        <p:txBody>
          <a:bodyPr wrap="square" rtlCol="0" anchor="ctr"/>
          <a:lstStyle/>
          <a:p>
            <a:pPr marL="0" indent="0" algn="ctr">
              <a:buNone/>
            </a:pPr>
            <a:r>
              <a:rPr lang="en-US" sz="2800" b="1" dirty="0">
                <a:solidFill>
                  <a:srgbClr val="821538"/>
                </a:solidFill>
                <a:latin typeface="Calibri" pitchFamily="34" charset="0"/>
                <a:ea typeface="Calibri" pitchFamily="34" charset="-122"/>
                <a:cs typeface="Calibri" pitchFamily="34" charset="-120"/>
              </a:rPr>
              <a:t>de Modelos de Machine Learning</a:t>
            </a:r>
            <a:endParaRPr lang="en-US" sz="2800" dirty="0"/>
          </a:p>
        </p:txBody>
      </p:sp>
      <p:sp>
        <p:nvSpPr>
          <p:cNvPr id="13" name="Text 10"/>
          <p:cNvSpPr/>
          <p:nvPr/>
        </p:nvSpPr>
        <p:spPr>
          <a:xfrm>
            <a:off x="1371600" y="4526280"/>
            <a:ext cx="9445752" cy="457200"/>
          </a:xfrm>
          <a:prstGeom prst="rect">
            <a:avLst/>
          </a:prstGeom>
          <a:noFill/>
          <a:ln/>
        </p:spPr>
        <p:txBody>
          <a:bodyPr wrap="square" rtlCol="0" anchor="ctr"/>
          <a:lstStyle/>
          <a:p>
            <a:pPr marL="0" indent="0" algn="ctr">
              <a:buNone/>
            </a:pPr>
            <a:r>
              <a:rPr lang="en-US" sz="1500" i="1" dirty="0">
                <a:solidFill>
                  <a:srgbClr val="404040"/>
                </a:solidFill>
                <a:latin typeface="Calibri" pitchFamily="34" charset="0"/>
                <a:ea typeface="Calibri" pitchFamily="34" charset="-122"/>
                <a:cs typeface="Calibri" pitchFamily="34" charset="-120"/>
              </a:rPr>
              <a:t>Aplicación al problema Text-to-SQL sobre el benchmark Spider</a:t>
            </a:r>
            <a:endParaRPr lang="en-US" sz="1500" dirty="0"/>
          </a:p>
        </p:txBody>
      </p:sp>
      <p:sp>
        <p:nvSpPr>
          <p:cNvPr id="14" name="Text 11"/>
          <p:cNvSpPr/>
          <p:nvPr/>
        </p:nvSpPr>
        <p:spPr>
          <a:xfrm>
            <a:off x="914400" y="5120640"/>
            <a:ext cx="10360152" cy="320040"/>
          </a:xfrm>
          <a:prstGeom prst="rect">
            <a:avLst/>
          </a:prstGeom>
          <a:noFill/>
          <a:ln/>
        </p:spPr>
        <p:txBody>
          <a:bodyPr wrap="square" rtlCol="0" anchor="ctr"/>
          <a:lstStyle/>
          <a:p>
            <a:pPr marL="0" indent="0" algn="ctr">
              <a:buNone/>
            </a:pPr>
            <a:r>
              <a:rPr lang="en-US" sz="1400" b="1" dirty="0">
                <a:solidFill>
                  <a:srgbClr val="404040"/>
                </a:solidFill>
                <a:latin typeface="Calibri" pitchFamily="34" charset="0"/>
                <a:ea typeface="Calibri" pitchFamily="34" charset="-122"/>
                <a:cs typeface="Calibri" pitchFamily="34" charset="-120"/>
              </a:rPr>
              <a:t>Cabrera Parrales Joel David  ·  Sánchez Arévalo Aníbal Andrés</a:t>
            </a:r>
            <a:endParaRPr lang="en-US" sz="1400" dirty="0"/>
          </a:p>
        </p:txBody>
      </p:sp>
      <p:sp>
        <p:nvSpPr>
          <p:cNvPr id="15" name="Text 12"/>
          <p:cNvSpPr/>
          <p:nvPr/>
        </p:nvSpPr>
        <p:spPr>
          <a:xfrm>
            <a:off x="914400" y="5440680"/>
            <a:ext cx="10360152" cy="274320"/>
          </a:xfrm>
          <a:prstGeom prst="rect">
            <a:avLst/>
          </a:prstGeom>
          <a:noFill/>
          <a:ln/>
        </p:spPr>
        <p:txBody>
          <a:bodyPr wrap="square" rtlCol="0" anchor="ctr"/>
          <a:lstStyle/>
          <a:p>
            <a:pPr marL="0" indent="0" algn="ctr">
              <a:buNone/>
            </a:pPr>
            <a:r>
              <a:rPr lang="en-US" sz="1200" dirty="0">
                <a:solidFill>
                  <a:srgbClr val="7F7F7F"/>
                </a:solidFill>
                <a:latin typeface="Calibri" pitchFamily="34" charset="0"/>
                <a:ea typeface="Calibri" pitchFamily="34" charset="-122"/>
                <a:cs typeface="Calibri" pitchFamily="34" charset="-120"/>
              </a:rPr>
              <a:t>Tutora: Mg. Alexandra J. Arciniegas C.</a:t>
            </a:r>
            <a:endParaRPr lang="en-US" sz="1200" dirty="0"/>
          </a:p>
        </p:txBody>
      </p:sp>
      <p:sp>
        <p:nvSpPr>
          <p:cNvPr id="16" name="Text 13"/>
          <p:cNvSpPr/>
          <p:nvPr/>
        </p:nvSpPr>
        <p:spPr>
          <a:xfrm>
            <a:off x="457200" y="6263640"/>
            <a:ext cx="9144000" cy="457200"/>
          </a:xfrm>
          <a:prstGeom prst="rect">
            <a:avLst/>
          </a:prstGeom>
          <a:noFill/>
          <a:ln/>
        </p:spPr>
        <p:txBody>
          <a:bodyPr wrap="square" rtlCol="0" anchor="ctr"/>
          <a:lstStyle/>
          <a:p>
            <a:pPr marL="0" indent="0" algn="l">
              <a:buNone/>
            </a:pPr>
            <a:r>
              <a:rPr lang="en-US" sz="1300" b="1" dirty="0">
                <a:solidFill>
                  <a:srgbClr val="FFFFFF"/>
                </a:solidFill>
                <a:latin typeface="Calibri" pitchFamily="34" charset="0"/>
                <a:ea typeface="Calibri" pitchFamily="34" charset="-122"/>
                <a:cs typeface="Calibri" pitchFamily="34" charset="-120"/>
              </a:rPr>
              <a:t>Samborondón, Ecuador  ·  Abril 2026</a:t>
            </a:r>
            <a:endParaRPr lang="en-US" sz="1300" dirty="0"/>
          </a:p>
        </p:txBody>
      </p:sp>
      <p:sp>
        <p:nvSpPr>
          <p:cNvPr id="17" name="Text 14"/>
          <p:cNvSpPr/>
          <p:nvPr/>
        </p:nvSpPr>
        <p:spPr>
          <a:xfrm>
            <a:off x="10058400" y="6263640"/>
            <a:ext cx="1828800" cy="457200"/>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Grupo 1</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274320"/>
            <a:ext cx="10698480" cy="731520"/>
          </a:xfrm>
          <a:prstGeom prst="rect">
            <a:avLst/>
          </a:prstGeom>
          <a:noFill/>
          <a:ln/>
        </p:spPr>
        <p:txBody>
          <a:bodyPr wrap="square" rtlCol="0" anchor="ctr"/>
          <a:lstStyle/>
          <a:p>
            <a:pPr marL="0" indent="0">
              <a:buNone/>
            </a:pPr>
            <a:r>
              <a:rPr lang="en-US" sz="3000" b="1" dirty="0">
                <a:solidFill>
                  <a:srgbClr val="821538"/>
                </a:solidFill>
                <a:latin typeface="Calibri" pitchFamily="34" charset="0"/>
                <a:ea typeface="Calibri" pitchFamily="34" charset="-122"/>
                <a:cs typeface="Calibri" pitchFamily="34" charset="-120"/>
              </a:rPr>
              <a:t>Agenda</a:t>
            </a:r>
            <a:endParaRPr lang="en-US" sz="3000" dirty="0"/>
          </a:p>
        </p:txBody>
      </p:sp>
      <p:sp>
        <p:nvSpPr>
          <p:cNvPr id="3" name="Shape 1"/>
          <p:cNvSpPr/>
          <p:nvPr/>
        </p:nvSpPr>
        <p:spPr>
          <a:xfrm>
            <a:off x="457200" y="960120"/>
            <a:ext cx="11247120" cy="0"/>
          </a:xfrm>
          <a:prstGeom prst="line">
            <a:avLst/>
          </a:prstGeom>
          <a:noFill/>
          <a:ln w="25400">
            <a:solidFill>
              <a:srgbClr val="821538"/>
            </a:solidFill>
            <a:prstDash val="solid"/>
          </a:ln>
        </p:spPr>
      </p:sp>
      <p:sp>
        <p:nvSpPr>
          <p:cNvPr id="4" name="Shape 2"/>
          <p:cNvSpPr/>
          <p:nvPr/>
        </p:nvSpPr>
        <p:spPr>
          <a:xfrm>
            <a:off x="731520" y="1371600"/>
            <a:ext cx="822960" cy="822960"/>
          </a:xfrm>
          <a:prstGeom prst="ellipse">
            <a:avLst/>
          </a:prstGeom>
          <a:solidFill>
            <a:srgbClr val="821538"/>
          </a:solidFill>
          <a:ln/>
        </p:spPr>
      </p:sp>
      <p:sp>
        <p:nvSpPr>
          <p:cNvPr id="5" name="Text 3"/>
          <p:cNvSpPr/>
          <p:nvPr/>
        </p:nvSpPr>
        <p:spPr>
          <a:xfrm>
            <a:off x="731520" y="1371600"/>
            <a:ext cx="822960" cy="822960"/>
          </a:xfrm>
          <a:prstGeom prst="rect">
            <a:avLst/>
          </a:prstGeom>
          <a:noFill/>
          <a:ln/>
        </p:spPr>
        <p:txBody>
          <a:bodyPr wrap="square" rtlCol="0" anchor="ctr"/>
          <a:lstStyle/>
          <a:p>
            <a:pPr marL="0" indent="0" algn="ctr">
              <a:buNone/>
            </a:pPr>
            <a:r>
              <a:rPr lang="en-US" sz="3000" b="1" dirty="0">
                <a:solidFill>
                  <a:srgbClr val="FFFFFF"/>
                </a:solidFill>
                <a:latin typeface="Calibri" pitchFamily="34" charset="0"/>
                <a:ea typeface="Calibri" pitchFamily="34" charset="-122"/>
                <a:cs typeface="Calibri" pitchFamily="34" charset="-120"/>
              </a:rPr>
              <a:t>1</a:t>
            </a:r>
            <a:endParaRPr lang="en-US" sz="3000" dirty="0"/>
          </a:p>
        </p:txBody>
      </p:sp>
      <p:sp>
        <p:nvSpPr>
          <p:cNvPr id="6" name="Text 4"/>
          <p:cNvSpPr/>
          <p:nvPr/>
        </p:nvSpPr>
        <p:spPr>
          <a:xfrm>
            <a:off x="1737360" y="1371600"/>
            <a:ext cx="4389120" cy="411480"/>
          </a:xfrm>
          <a:prstGeom prst="rect">
            <a:avLst/>
          </a:prstGeom>
          <a:noFill/>
          <a:ln/>
        </p:spPr>
        <p:txBody>
          <a:bodyPr wrap="square" rtlCol="0" anchor="t"/>
          <a:lstStyle/>
          <a:p>
            <a:pPr marL="0" indent="0">
              <a:buNone/>
            </a:pPr>
            <a:r>
              <a:rPr lang="en-US" sz="1600" b="1" dirty="0">
                <a:solidFill>
                  <a:srgbClr val="821538"/>
                </a:solidFill>
                <a:latin typeface="Calibri" pitchFamily="34" charset="0"/>
                <a:ea typeface="Calibri" pitchFamily="34" charset="-122"/>
                <a:cs typeface="Calibri" pitchFamily="34" charset="-120"/>
              </a:rPr>
              <a:t>Resumen ejecutivo</a:t>
            </a:r>
            <a:endParaRPr lang="en-US" sz="1600" dirty="0"/>
          </a:p>
        </p:txBody>
      </p:sp>
      <p:sp>
        <p:nvSpPr>
          <p:cNvPr id="7" name="Text 5"/>
          <p:cNvSpPr/>
          <p:nvPr/>
        </p:nvSpPr>
        <p:spPr>
          <a:xfrm>
            <a:off x="1737360" y="1783080"/>
            <a:ext cx="4389120" cy="502920"/>
          </a:xfrm>
          <a:prstGeom prst="rect">
            <a:avLst/>
          </a:prstGeom>
          <a:noFill/>
          <a:ln/>
        </p:spPr>
        <p:txBody>
          <a:bodyPr wrap="square" rtlCol="0" anchor="t"/>
          <a:lstStyle/>
          <a:p>
            <a:pPr marL="0" indent="0">
              <a:buNone/>
            </a:pPr>
            <a:r>
              <a:rPr lang="en-US" sz="1200" dirty="0">
                <a:solidFill>
                  <a:srgbClr val="404040"/>
                </a:solidFill>
                <a:latin typeface="Calibri" pitchFamily="34" charset="0"/>
                <a:ea typeface="Calibri" pitchFamily="34" charset="-122"/>
                <a:cs typeface="Calibri" pitchFamily="34" charset="-120"/>
              </a:rPr>
              <a:t>Dashboard de resultados</a:t>
            </a:r>
            <a:endParaRPr lang="en-US" sz="1200" dirty="0"/>
          </a:p>
        </p:txBody>
      </p:sp>
      <p:sp>
        <p:nvSpPr>
          <p:cNvPr id="8" name="Shape 6"/>
          <p:cNvSpPr/>
          <p:nvPr/>
        </p:nvSpPr>
        <p:spPr>
          <a:xfrm>
            <a:off x="6309360" y="1371600"/>
            <a:ext cx="822960" cy="822960"/>
          </a:xfrm>
          <a:prstGeom prst="ellipse">
            <a:avLst/>
          </a:prstGeom>
          <a:solidFill>
            <a:srgbClr val="821538"/>
          </a:solidFill>
          <a:ln/>
        </p:spPr>
      </p:sp>
      <p:sp>
        <p:nvSpPr>
          <p:cNvPr id="9" name="Text 7"/>
          <p:cNvSpPr/>
          <p:nvPr/>
        </p:nvSpPr>
        <p:spPr>
          <a:xfrm>
            <a:off x="6309360" y="1371600"/>
            <a:ext cx="822960" cy="822960"/>
          </a:xfrm>
          <a:prstGeom prst="rect">
            <a:avLst/>
          </a:prstGeom>
          <a:noFill/>
          <a:ln/>
        </p:spPr>
        <p:txBody>
          <a:bodyPr wrap="square" rtlCol="0" anchor="ctr"/>
          <a:lstStyle/>
          <a:p>
            <a:pPr marL="0" indent="0" algn="ctr">
              <a:buNone/>
            </a:pPr>
            <a:r>
              <a:rPr lang="en-US" sz="3000" b="1" dirty="0">
                <a:solidFill>
                  <a:srgbClr val="FFFFFF"/>
                </a:solidFill>
                <a:latin typeface="Calibri" pitchFamily="34" charset="0"/>
                <a:ea typeface="Calibri" pitchFamily="34" charset="-122"/>
                <a:cs typeface="Calibri" pitchFamily="34" charset="-120"/>
              </a:rPr>
              <a:t>2</a:t>
            </a:r>
            <a:endParaRPr lang="en-US" sz="3000" dirty="0"/>
          </a:p>
        </p:txBody>
      </p:sp>
      <p:sp>
        <p:nvSpPr>
          <p:cNvPr id="10" name="Text 8"/>
          <p:cNvSpPr/>
          <p:nvPr/>
        </p:nvSpPr>
        <p:spPr>
          <a:xfrm>
            <a:off x="7315200" y="1371600"/>
            <a:ext cx="4389120" cy="411480"/>
          </a:xfrm>
          <a:prstGeom prst="rect">
            <a:avLst/>
          </a:prstGeom>
          <a:noFill/>
          <a:ln/>
        </p:spPr>
        <p:txBody>
          <a:bodyPr wrap="square" rtlCol="0" anchor="t"/>
          <a:lstStyle/>
          <a:p>
            <a:pPr marL="0" indent="0">
              <a:buNone/>
            </a:pPr>
            <a:r>
              <a:rPr lang="en-US" sz="1600" b="1" dirty="0">
                <a:solidFill>
                  <a:srgbClr val="821538"/>
                </a:solidFill>
                <a:latin typeface="Calibri" pitchFamily="34" charset="0"/>
                <a:ea typeface="Calibri" pitchFamily="34" charset="-122"/>
                <a:cs typeface="Calibri" pitchFamily="34" charset="-120"/>
              </a:rPr>
              <a:t>Bloque 1 — Sesgo y Fairness</a:t>
            </a:r>
            <a:endParaRPr lang="en-US" sz="1600" dirty="0"/>
          </a:p>
        </p:txBody>
      </p:sp>
      <p:sp>
        <p:nvSpPr>
          <p:cNvPr id="11" name="Text 9"/>
          <p:cNvSpPr/>
          <p:nvPr/>
        </p:nvSpPr>
        <p:spPr>
          <a:xfrm>
            <a:off x="7315200" y="1783080"/>
            <a:ext cx="4389120" cy="502920"/>
          </a:xfrm>
          <a:prstGeom prst="rect">
            <a:avLst/>
          </a:prstGeom>
          <a:noFill/>
          <a:ln/>
        </p:spPr>
        <p:txBody>
          <a:bodyPr wrap="square" rtlCol="0" anchor="t"/>
          <a:lstStyle/>
          <a:p>
            <a:pPr marL="0" indent="0">
              <a:buNone/>
            </a:pPr>
            <a:r>
              <a:rPr lang="en-US" sz="1200" dirty="0">
                <a:solidFill>
                  <a:srgbClr val="404040"/>
                </a:solidFill>
                <a:latin typeface="Calibri" pitchFamily="34" charset="0"/>
                <a:ea typeface="Calibri" pitchFamily="34" charset="-122"/>
                <a:cs typeface="Calibri" pitchFamily="34" charset="-120"/>
              </a:rPr>
              <a:t>Disparidad · Reweighting</a:t>
            </a:r>
            <a:endParaRPr lang="en-US" sz="1200" dirty="0"/>
          </a:p>
        </p:txBody>
      </p:sp>
      <p:sp>
        <p:nvSpPr>
          <p:cNvPr id="12" name="Shape 10"/>
          <p:cNvSpPr/>
          <p:nvPr/>
        </p:nvSpPr>
        <p:spPr>
          <a:xfrm>
            <a:off x="731520" y="2926080"/>
            <a:ext cx="822960" cy="822960"/>
          </a:xfrm>
          <a:prstGeom prst="ellipse">
            <a:avLst/>
          </a:prstGeom>
          <a:solidFill>
            <a:srgbClr val="821538"/>
          </a:solidFill>
          <a:ln/>
        </p:spPr>
      </p:sp>
      <p:sp>
        <p:nvSpPr>
          <p:cNvPr id="13" name="Text 11"/>
          <p:cNvSpPr/>
          <p:nvPr/>
        </p:nvSpPr>
        <p:spPr>
          <a:xfrm>
            <a:off x="731520" y="2926080"/>
            <a:ext cx="822960" cy="822960"/>
          </a:xfrm>
          <a:prstGeom prst="rect">
            <a:avLst/>
          </a:prstGeom>
          <a:noFill/>
          <a:ln/>
        </p:spPr>
        <p:txBody>
          <a:bodyPr wrap="square" rtlCol="0" anchor="ctr"/>
          <a:lstStyle/>
          <a:p>
            <a:pPr marL="0" indent="0" algn="ctr">
              <a:buNone/>
            </a:pPr>
            <a:r>
              <a:rPr lang="en-US" sz="3000" b="1" dirty="0">
                <a:solidFill>
                  <a:srgbClr val="FFFFFF"/>
                </a:solidFill>
                <a:latin typeface="Calibri" pitchFamily="34" charset="0"/>
                <a:ea typeface="Calibri" pitchFamily="34" charset="-122"/>
                <a:cs typeface="Calibri" pitchFamily="34" charset="-120"/>
              </a:rPr>
              <a:t>3</a:t>
            </a:r>
            <a:endParaRPr lang="en-US" sz="3000" dirty="0"/>
          </a:p>
        </p:txBody>
      </p:sp>
      <p:sp>
        <p:nvSpPr>
          <p:cNvPr id="14" name="Text 12"/>
          <p:cNvSpPr/>
          <p:nvPr/>
        </p:nvSpPr>
        <p:spPr>
          <a:xfrm>
            <a:off x="1737360" y="2926080"/>
            <a:ext cx="4389120" cy="411480"/>
          </a:xfrm>
          <a:prstGeom prst="rect">
            <a:avLst/>
          </a:prstGeom>
          <a:noFill/>
          <a:ln/>
        </p:spPr>
        <p:txBody>
          <a:bodyPr wrap="square" rtlCol="0" anchor="t"/>
          <a:lstStyle/>
          <a:p>
            <a:pPr marL="0" indent="0">
              <a:buNone/>
            </a:pPr>
            <a:r>
              <a:rPr lang="en-US" sz="1600" b="1" dirty="0">
                <a:solidFill>
                  <a:srgbClr val="821538"/>
                </a:solidFill>
                <a:latin typeface="Calibri" pitchFamily="34" charset="0"/>
                <a:ea typeface="Calibri" pitchFamily="34" charset="-122"/>
                <a:cs typeface="Calibri" pitchFamily="34" charset="-120"/>
              </a:rPr>
              <a:t>Bloque 2 — Generalización</a:t>
            </a:r>
            <a:endParaRPr lang="en-US" sz="1600" dirty="0"/>
          </a:p>
        </p:txBody>
      </p:sp>
      <p:sp>
        <p:nvSpPr>
          <p:cNvPr id="15" name="Text 13"/>
          <p:cNvSpPr/>
          <p:nvPr/>
        </p:nvSpPr>
        <p:spPr>
          <a:xfrm>
            <a:off x="1737360" y="3337560"/>
            <a:ext cx="4389120" cy="502920"/>
          </a:xfrm>
          <a:prstGeom prst="rect">
            <a:avLst/>
          </a:prstGeom>
          <a:noFill/>
          <a:ln/>
        </p:spPr>
        <p:txBody>
          <a:bodyPr wrap="square" rtlCol="0" anchor="t"/>
          <a:lstStyle/>
          <a:p>
            <a:pPr marL="0" indent="0">
              <a:buNone/>
            </a:pPr>
            <a:r>
              <a:rPr lang="en-US" sz="1200" dirty="0">
                <a:solidFill>
                  <a:srgbClr val="404040"/>
                </a:solidFill>
                <a:latin typeface="Calibri" pitchFamily="34" charset="0"/>
                <a:ea typeface="Calibri" pitchFamily="34" charset="-122"/>
                <a:cs typeface="Calibri" pitchFamily="34" charset="-120"/>
              </a:rPr>
              <a:t>Curvas de aprendizaje · Overfitting</a:t>
            </a:r>
            <a:endParaRPr lang="en-US" sz="1200" dirty="0"/>
          </a:p>
        </p:txBody>
      </p:sp>
      <p:sp>
        <p:nvSpPr>
          <p:cNvPr id="16" name="Shape 14"/>
          <p:cNvSpPr/>
          <p:nvPr/>
        </p:nvSpPr>
        <p:spPr>
          <a:xfrm>
            <a:off x="6309360" y="2926080"/>
            <a:ext cx="822960" cy="822960"/>
          </a:xfrm>
          <a:prstGeom prst="ellipse">
            <a:avLst/>
          </a:prstGeom>
          <a:solidFill>
            <a:srgbClr val="821538"/>
          </a:solidFill>
          <a:ln/>
        </p:spPr>
      </p:sp>
      <p:sp>
        <p:nvSpPr>
          <p:cNvPr id="17" name="Text 15"/>
          <p:cNvSpPr/>
          <p:nvPr/>
        </p:nvSpPr>
        <p:spPr>
          <a:xfrm>
            <a:off x="6309360" y="2926080"/>
            <a:ext cx="822960" cy="822960"/>
          </a:xfrm>
          <a:prstGeom prst="rect">
            <a:avLst/>
          </a:prstGeom>
          <a:noFill/>
          <a:ln/>
        </p:spPr>
        <p:txBody>
          <a:bodyPr wrap="square" rtlCol="0" anchor="ctr"/>
          <a:lstStyle/>
          <a:p>
            <a:pPr marL="0" indent="0" algn="ctr">
              <a:buNone/>
            </a:pPr>
            <a:r>
              <a:rPr lang="en-US" sz="3000" b="1" dirty="0">
                <a:solidFill>
                  <a:srgbClr val="FFFFFF"/>
                </a:solidFill>
                <a:latin typeface="Calibri" pitchFamily="34" charset="0"/>
                <a:ea typeface="Calibri" pitchFamily="34" charset="-122"/>
                <a:cs typeface="Calibri" pitchFamily="34" charset="-120"/>
              </a:rPr>
              <a:t>4</a:t>
            </a:r>
            <a:endParaRPr lang="en-US" sz="3000" dirty="0"/>
          </a:p>
        </p:txBody>
      </p:sp>
      <p:sp>
        <p:nvSpPr>
          <p:cNvPr id="18" name="Text 16"/>
          <p:cNvSpPr/>
          <p:nvPr/>
        </p:nvSpPr>
        <p:spPr>
          <a:xfrm>
            <a:off x="7315200" y="2926080"/>
            <a:ext cx="4389120" cy="411480"/>
          </a:xfrm>
          <a:prstGeom prst="rect">
            <a:avLst/>
          </a:prstGeom>
          <a:noFill/>
          <a:ln/>
        </p:spPr>
        <p:txBody>
          <a:bodyPr wrap="square" rtlCol="0" anchor="t"/>
          <a:lstStyle/>
          <a:p>
            <a:pPr marL="0" indent="0">
              <a:buNone/>
            </a:pPr>
            <a:r>
              <a:rPr lang="en-US" sz="1600" b="1" dirty="0">
                <a:solidFill>
                  <a:srgbClr val="821538"/>
                </a:solidFill>
                <a:latin typeface="Calibri" pitchFamily="34" charset="0"/>
                <a:ea typeface="Calibri" pitchFamily="34" charset="-122"/>
                <a:cs typeface="Calibri" pitchFamily="34" charset="-120"/>
              </a:rPr>
              <a:t>Bloque 3 — Robustez</a:t>
            </a:r>
            <a:endParaRPr lang="en-US" sz="1600" dirty="0"/>
          </a:p>
        </p:txBody>
      </p:sp>
      <p:sp>
        <p:nvSpPr>
          <p:cNvPr id="19" name="Text 17"/>
          <p:cNvSpPr/>
          <p:nvPr/>
        </p:nvSpPr>
        <p:spPr>
          <a:xfrm>
            <a:off x="7315200" y="3337560"/>
            <a:ext cx="4389120" cy="502920"/>
          </a:xfrm>
          <a:prstGeom prst="rect">
            <a:avLst/>
          </a:prstGeom>
          <a:noFill/>
          <a:ln/>
        </p:spPr>
        <p:txBody>
          <a:bodyPr wrap="square" rtlCol="0" anchor="t"/>
          <a:lstStyle/>
          <a:p>
            <a:pPr marL="0" indent="0">
              <a:buNone/>
            </a:pPr>
            <a:r>
              <a:rPr lang="en-US" sz="1200" dirty="0">
                <a:solidFill>
                  <a:srgbClr val="404040"/>
                </a:solidFill>
                <a:latin typeface="Calibri" pitchFamily="34" charset="0"/>
                <a:ea typeface="Calibri" pitchFamily="34" charset="-122"/>
                <a:cs typeface="Calibri" pitchFamily="34" charset="-120"/>
              </a:rPr>
              <a:t>RSI · 9 escenarios simulados</a:t>
            </a:r>
            <a:endParaRPr lang="en-US" sz="1200" dirty="0"/>
          </a:p>
        </p:txBody>
      </p:sp>
      <p:sp>
        <p:nvSpPr>
          <p:cNvPr id="20" name="Shape 18"/>
          <p:cNvSpPr/>
          <p:nvPr/>
        </p:nvSpPr>
        <p:spPr>
          <a:xfrm>
            <a:off x="731520" y="4480560"/>
            <a:ext cx="822960" cy="822960"/>
          </a:xfrm>
          <a:prstGeom prst="ellipse">
            <a:avLst/>
          </a:prstGeom>
          <a:solidFill>
            <a:srgbClr val="821538"/>
          </a:solidFill>
          <a:ln/>
        </p:spPr>
      </p:sp>
      <p:sp>
        <p:nvSpPr>
          <p:cNvPr id="21" name="Text 19"/>
          <p:cNvSpPr/>
          <p:nvPr/>
        </p:nvSpPr>
        <p:spPr>
          <a:xfrm>
            <a:off x="731520" y="4480560"/>
            <a:ext cx="822960" cy="822960"/>
          </a:xfrm>
          <a:prstGeom prst="rect">
            <a:avLst/>
          </a:prstGeom>
          <a:noFill/>
          <a:ln/>
        </p:spPr>
        <p:txBody>
          <a:bodyPr wrap="square" rtlCol="0" anchor="ctr"/>
          <a:lstStyle/>
          <a:p>
            <a:pPr marL="0" indent="0" algn="ctr">
              <a:buNone/>
            </a:pPr>
            <a:r>
              <a:rPr lang="en-US" sz="3000" b="1" dirty="0">
                <a:solidFill>
                  <a:srgbClr val="FFFFFF"/>
                </a:solidFill>
                <a:latin typeface="Calibri" pitchFamily="34" charset="0"/>
                <a:ea typeface="Calibri" pitchFamily="34" charset="-122"/>
                <a:cs typeface="Calibri" pitchFamily="34" charset="-120"/>
              </a:rPr>
              <a:t>5</a:t>
            </a:r>
            <a:endParaRPr lang="en-US" sz="3000" dirty="0"/>
          </a:p>
        </p:txBody>
      </p:sp>
      <p:sp>
        <p:nvSpPr>
          <p:cNvPr id="22" name="Text 20"/>
          <p:cNvSpPr/>
          <p:nvPr/>
        </p:nvSpPr>
        <p:spPr>
          <a:xfrm>
            <a:off x="1737360" y="4480560"/>
            <a:ext cx="4389120" cy="411480"/>
          </a:xfrm>
          <a:prstGeom prst="rect">
            <a:avLst/>
          </a:prstGeom>
          <a:noFill/>
          <a:ln/>
        </p:spPr>
        <p:txBody>
          <a:bodyPr wrap="square" rtlCol="0" anchor="t"/>
          <a:lstStyle/>
          <a:p>
            <a:pPr marL="0" indent="0">
              <a:buNone/>
            </a:pPr>
            <a:r>
              <a:rPr lang="en-US" sz="1600" b="1" dirty="0">
                <a:solidFill>
                  <a:srgbClr val="821538"/>
                </a:solidFill>
                <a:latin typeface="Calibri" pitchFamily="34" charset="0"/>
                <a:ea typeface="Calibri" pitchFamily="34" charset="-122"/>
                <a:cs typeface="Calibri" pitchFamily="34" charset="-120"/>
              </a:rPr>
              <a:t>Bloque 4 — Optimización HP</a:t>
            </a:r>
            <a:endParaRPr lang="en-US" sz="1600" dirty="0"/>
          </a:p>
        </p:txBody>
      </p:sp>
      <p:sp>
        <p:nvSpPr>
          <p:cNvPr id="23" name="Text 21"/>
          <p:cNvSpPr/>
          <p:nvPr/>
        </p:nvSpPr>
        <p:spPr>
          <a:xfrm>
            <a:off x="1737360" y="4892040"/>
            <a:ext cx="4389120" cy="502920"/>
          </a:xfrm>
          <a:prstGeom prst="rect">
            <a:avLst/>
          </a:prstGeom>
          <a:noFill/>
          <a:ln/>
        </p:spPr>
        <p:txBody>
          <a:bodyPr wrap="square" rtlCol="0" anchor="t"/>
          <a:lstStyle/>
          <a:p>
            <a:pPr marL="0" indent="0">
              <a:buNone/>
            </a:pPr>
            <a:r>
              <a:rPr lang="en-US" sz="1200" dirty="0">
                <a:solidFill>
                  <a:srgbClr val="404040"/>
                </a:solidFill>
                <a:latin typeface="Calibri" pitchFamily="34" charset="0"/>
                <a:ea typeface="Calibri" pitchFamily="34" charset="-122"/>
                <a:cs typeface="Calibri" pitchFamily="34" charset="-120"/>
              </a:rPr>
              <a:t>PDP · Ranking · Interacciones</a:t>
            </a:r>
            <a:endParaRPr lang="en-US" sz="1200" dirty="0"/>
          </a:p>
        </p:txBody>
      </p:sp>
      <p:sp>
        <p:nvSpPr>
          <p:cNvPr id="24" name="Shape 22"/>
          <p:cNvSpPr/>
          <p:nvPr/>
        </p:nvSpPr>
        <p:spPr>
          <a:xfrm>
            <a:off x="6309360" y="4480560"/>
            <a:ext cx="822960" cy="822960"/>
          </a:xfrm>
          <a:prstGeom prst="ellipse">
            <a:avLst/>
          </a:prstGeom>
          <a:solidFill>
            <a:srgbClr val="821538"/>
          </a:solidFill>
          <a:ln/>
        </p:spPr>
      </p:sp>
      <p:sp>
        <p:nvSpPr>
          <p:cNvPr id="25" name="Text 23"/>
          <p:cNvSpPr/>
          <p:nvPr/>
        </p:nvSpPr>
        <p:spPr>
          <a:xfrm>
            <a:off x="6309360" y="4480560"/>
            <a:ext cx="822960" cy="822960"/>
          </a:xfrm>
          <a:prstGeom prst="rect">
            <a:avLst/>
          </a:prstGeom>
          <a:noFill/>
          <a:ln/>
        </p:spPr>
        <p:txBody>
          <a:bodyPr wrap="square" rtlCol="0" anchor="ctr"/>
          <a:lstStyle/>
          <a:p>
            <a:pPr marL="0" indent="0" algn="ctr">
              <a:buNone/>
            </a:pPr>
            <a:r>
              <a:rPr lang="en-US" sz="3000" b="1" dirty="0">
                <a:solidFill>
                  <a:srgbClr val="FFFFFF"/>
                </a:solidFill>
                <a:latin typeface="Calibri" pitchFamily="34" charset="0"/>
                <a:ea typeface="Calibri" pitchFamily="34" charset="-122"/>
                <a:cs typeface="Calibri" pitchFamily="34" charset="-120"/>
              </a:rPr>
              <a:t>6</a:t>
            </a:r>
            <a:endParaRPr lang="en-US" sz="3000" dirty="0"/>
          </a:p>
        </p:txBody>
      </p:sp>
      <p:sp>
        <p:nvSpPr>
          <p:cNvPr id="26" name="Text 24"/>
          <p:cNvSpPr/>
          <p:nvPr/>
        </p:nvSpPr>
        <p:spPr>
          <a:xfrm>
            <a:off x="7315200" y="4480560"/>
            <a:ext cx="4389120" cy="411480"/>
          </a:xfrm>
          <a:prstGeom prst="rect">
            <a:avLst/>
          </a:prstGeom>
          <a:noFill/>
          <a:ln/>
        </p:spPr>
        <p:txBody>
          <a:bodyPr wrap="square" rtlCol="0" anchor="t"/>
          <a:lstStyle/>
          <a:p>
            <a:pPr marL="0" indent="0">
              <a:buNone/>
            </a:pPr>
            <a:r>
              <a:rPr lang="en-US" sz="1600" b="1" dirty="0">
                <a:solidFill>
                  <a:srgbClr val="821538"/>
                </a:solidFill>
                <a:latin typeface="Calibri" pitchFamily="34" charset="0"/>
                <a:ea typeface="Calibri" pitchFamily="34" charset="-122"/>
                <a:cs typeface="Calibri" pitchFamily="34" charset="-120"/>
              </a:rPr>
              <a:t>Conclusiones</a:t>
            </a:r>
            <a:endParaRPr lang="en-US" sz="1600" dirty="0"/>
          </a:p>
        </p:txBody>
      </p:sp>
      <p:sp>
        <p:nvSpPr>
          <p:cNvPr id="27" name="Text 25"/>
          <p:cNvSpPr/>
          <p:nvPr/>
        </p:nvSpPr>
        <p:spPr>
          <a:xfrm>
            <a:off x="7315200" y="4892040"/>
            <a:ext cx="4389120" cy="502920"/>
          </a:xfrm>
          <a:prstGeom prst="rect">
            <a:avLst/>
          </a:prstGeom>
          <a:noFill/>
          <a:ln/>
        </p:spPr>
        <p:txBody>
          <a:bodyPr wrap="square" rtlCol="0" anchor="t"/>
          <a:lstStyle/>
          <a:p>
            <a:pPr marL="0" indent="0">
              <a:buNone/>
            </a:pPr>
            <a:r>
              <a:rPr lang="en-US" sz="1200" dirty="0">
                <a:solidFill>
                  <a:srgbClr val="404040"/>
                </a:solidFill>
                <a:latin typeface="Calibri" pitchFamily="34" charset="0"/>
                <a:ea typeface="Calibri" pitchFamily="34" charset="-122"/>
                <a:cs typeface="Calibri" pitchFamily="34" charset="-120"/>
              </a:rPr>
              <a:t>Hallazgos + Recomendaciones</a:t>
            </a:r>
            <a:endParaRPr lang="en-US" sz="1200" dirty="0"/>
          </a:p>
        </p:txBody>
      </p:sp>
      <p:sp>
        <p:nvSpPr>
          <p:cNvPr id="28" name="Slide Number Placeholder 0"/>
          <p:cNvSpPr>
            <a:spLocks noGrp="1"/>
          </p:cNvSpPr>
          <p:nvPr>
            <p:ph type="sldNum" sz="quarter" idx="4294967295"/>
          </p:nvPr>
        </p:nvSpPr>
        <p:spPr>
          <a:xfrm>
            <a:off x="8412480" y="653796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404040"/>
                </a:solidFill>
                <a:latin typeface="Calibri"/>
                <a:ea typeface="Calibri"/>
                <a:cs typeface="Calibri"/>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274320"/>
            <a:ext cx="10698480" cy="731520"/>
          </a:xfrm>
          <a:prstGeom prst="rect">
            <a:avLst/>
          </a:prstGeom>
          <a:noFill/>
          <a:ln/>
        </p:spPr>
        <p:txBody>
          <a:bodyPr wrap="square" rtlCol="0" anchor="ctr"/>
          <a:lstStyle/>
          <a:p>
            <a:pPr marL="0" indent="0">
              <a:buNone/>
            </a:pPr>
            <a:r>
              <a:rPr lang="en-US" sz="3000" b="1" dirty="0">
                <a:solidFill>
                  <a:srgbClr val="821538"/>
                </a:solidFill>
                <a:latin typeface="Calibri" pitchFamily="34" charset="0"/>
                <a:ea typeface="Calibri" pitchFamily="34" charset="-122"/>
                <a:cs typeface="Calibri" pitchFamily="34" charset="-120"/>
              </a:rPr>
              <a:t>Resumen ejecutivo · Dashboard</a:t>
            </a:r>
            <a:endParaRPr lang="en-US" sz="3000" dirty="0"/>
          </a:p>
        </p:txBody>
      </p:sp>
      <p:sp>
        <p:nvSpPr>
          <p:cNvPr id="3" name="Shape 1"/>
          <p:cNvSpPr/>
          <p:nvPr/>
        </p:nvSpPr>
        <p:spPr>
          <a:xfrm>
            <a:off x="457200" y="960120"/>
            <a:ext cx="11247120" cy="0"/>
          </a:xfrm>
          <a:prstGeom prst="line">
            <a:avLst/>
          </a:prstGeom>
          <a:noFill/>
          <a:ln w="25400">
            <a:solidFill>
              <a:srgbClr val="821538"/>
            </a:solidFill>
            <a:prstDash val="solid"/>
          </a:ln>
        </p:spPr>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11247120" cy="2514600"/>
        </p:xfrm>
        <a:graphic>
          <a:graphicData uri="http://schemas.openxmlformats.org/drawingml/2006/table">
            <a:tbl>
              <a:tblPr/>
              <a:tblGrid>
                <a:gridCol w="2286000">
                  <a:extLst>
                    <a:ext uri="{9D8B030D-6E8A-4147-A177-3AD203B41FA5}">
                      <a16:colId xmlns:a16="http://schemas.microsoft.com/office/drawing/2014/main" val="20000"/>
                    </a:ext>
                  </a:extLst>
                </a:gridCol>
                <a:gridCol w="4572000">
                  <a:extLst>
                    <a:ext uri="{9D8B030D-6E8A-4147-A177-3AD203B41FA5}">
                      <a16:colId xmlns:a16="http://schemas.microsoft.com/office/drawing/2014/main" val="20001"/>
                    </a:ext>
                  </a:extLst>
                </a:gridCol>
                <a:gridCol w="4389120">
                  <a:extLst>
                    <a:ext uri="{9D8B030D-6E8A-4147-A177-3AD203B41FA5}">
                      <a16:colId xmlns:a16="http://schemas.microsoft.com/office/drawing/2014/main" val="20002"/>
                    </a:ext>
                  </a:extLst>
                </a:gridCol>
              </a:tblGrid>
              <a:tr h="502920">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Bloque</a:t>
                      </a:r>
                      <a:endParaRPr lang="en-US" sz="1100" dirty="0">
                        <a:latin typeface="Calibri" charset="0"/>
                        <a:ea typeface="Calibri" charset="0"/>
                        <a:cs typeface="Calibri" charset="0"/>
                      </a:endParaRPr>
                    </a:p>
                  </a:txBody>
                  <a:tcP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821538"/>
                    </a:solidFill>
                  </a:tcPr>
                </a:tc>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Métrica clave</a:t>
                      </a:r>
                      <a:endParaRPr lang="en-US" sz="1100" dirty="0">
                        <a:latin typeface="Calibri" charset="0"/>
                        <a:ea typeface="Calibri" charset="0"/>
                        <a:cs typeface="Calibri" charset="0"/>
                      </a:endParaRPr>
                    </a:p>
                  </a:txBody>
                  <a:tcP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821538"/>
                    </a:solidFill>
                  </a:tcPr>
                </a:tc>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Resultado / Veredicto</a:t>
                      </a:r>
                      <a:endParaRPr lang="en-US" sz="1100" dirty="0">
                        <a:latin typeface="Calibri" charset="0"/>
                        <a:ea typeface="Calibri" charset="0"/>
                        <a:cs typeface="Calibri" charset="0"/>
                      </a:endParaRPr>
                    </a:p>
                  </a:txBody>
                  <a:tcP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821538"/>
                    </a:solidFill>
                  </a:tcPr>
                </a:tc>
                <a:extLst>
                  <a:ext uri="{0D108BD9-81ED-4DB2-BD59-A6C34878D82A}">
                    <a16:rowId xmlns:a16="http://schemas.microsoft.com/office/drawing/2014/main" val="10000"/>
                  </a:ext>
                </a:extLst>
              </a:tr>
              <a:tr h="502920">
                <a:tc>
                  <a:txBody>
                    <a:bodyPr/>
                    <a:lstStyle/>
                    <a:p>
                      <a:pPr marL="0" indent="0">
                        <a:buNone/>
                      </a:pPr>
                      <a:r>
                        <a:rPr lang="en-US" sz="1100" b="1" dirty="0">
                          <a:solidFill>
                            <a:srgbClr val="000000"/>
                          </a:solidFill>
                          <a:latin typeface="Calibri" pitchFamily="34" charset="0"/>
                          <a:ea typeface="Calibri" pitchFamily="34" charset="-122"/>
                          <a:cs typeface="Calibri" pitchFamily="34" charset="-120"/>
                        </a:rPr>
                        <a:t>1. Sesgo</a:t>
                      </a:r>
                      <a:endParaRPr lang="en-US" sz="1100" dirty="0">
                        <a:latin typeface="Calibri" charset="0"/>
                        <a:ea typeface="Calibri" charset="0"/>
                        <a:cs typeface="Calibri" charset="0"/>
                      </a:endParaRPr>
                    </a:p>
                  </a:txBody>
                  <a:tcP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Disparity Ratio (Longitud) — antes / después</a:t>
                      </a:r>
                      <a:endParaRPr lang="en-US" sz="1100" dirty="0">
                        <a:latin typeface="Calibri" charset="0"/>
                        <a:ea typeface="Calibri" charset="0"/>
                        <a:cs typeface="Calibri" charset="0"/>
                      </a:endParaRPr>
                    </a:p>
                  </a:txBody>
                  <a:tcP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tcPr>
                </a:tc>
                <a:tc>
                  <a:txBody>
                    <a:bodyPr/>
                    <a:lstStyle/>
                    <a:p>
                      <a:pPr marL="0" indent="0">
                        <a:buNone/>
                      </a:pPr>
                      <a:r>
                        <a:rPr lang="en-US" sz="1100" b="1" dirty="0">
                          <a:solidFill>
                            <a:srgbClr val="E65100"/>
                          </a:solidFill>
                          <a:latin typeface="Calibri" pitchFamily="34" charset="0"/>
                          <a:ea typeface="Calibri" pitchFamily="34" charset="-122"/>
                          <a:cs typeface="Calibri" pitchFamily="34" charset="-120"/>
                        </a:rPr>
                        <a:t>0,499 → 0,629  ⚠ mejora parcial</a:t>
                      </a:r>
                      <a:endParaRPr lang="en-US" sz="1100" dirty="0">
                        <a:latin typeface="Calibri" charset="0"/>
                        <a:ea typeface="Calibri" charset="0"/>
                        <a:cs typeface="Calibri" charset="0"/>
                      </a:endParaRPr>
                    </a:p>
                  </a:txBody>
                  <a:tcP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tcPr>
                </a:tc>
                <a:extLst>
                  <a:ext uri="{0D108BD9-81ED-4DB2-BD59-A6C34878D82A}">
                    <a16:rowId xmlns:a16="http://schemas.microsoft.com/office/drawing/2014/main" val="10001"/>
                  </a:ext>
                </a:extLst>
              </a:tr>
              <a:tr h="502920">
                <a:tc>
                  <a:txBody>
                    <a:bodyPr/>
                    <a:lstStyle/>
                    <a:p>
                      <a:pPr marL="0" indent="0">
                        <a:buNone/>
                      </a:pPr>
                      <a:r>
                        <a:rPr lang="en-US" sz="1100" b="1" dirty="0">
                          <a:solidFill>
                            <a:srgbClr val="000000"/>
                          </a:solidFill>
                          <a:latin typeface="Calibri" pitchFamily="34" charset="0"/>
                          <a:ea typeface="Calibri" pitchFamily="34" charset="-122"/>
                          <a:cs typeface="Calibri" pitchFamily="34" charset="-120"/>
                        </a:rPr>
                        <a:t>2. Generalización</a:t>
                      </a:r>
                      <a:endParaRPr lang="en-US" sz="1100" dirty="0">
                        <a:latin typeface="Calibri" charset="0"/>
                        <a:ea typeface="Calibri" charset="0"/>
                        <a:cs typeface="Calibri" charset="0"/>
                      </a:endParaRPr>
                    </a:p>
                  </a:txBody>
                  <a:tcP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Gap train-val F1 Macro</a:t>
                      </a:r>
                      <a:endParaRPr lang="en-US" sz="1100" dirty="0">
                        <a:latin typeface="Calibri" charset="0"/>
                        <a:ea typeface="Calibri" charset="0"/>
                        <a:cs typeface="Calibri" charset="0"/>
                      </a:endParaRPr>
                    </a:p>
                  </a:txBody>
                  <a:tcP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tcPr>
                </a:tc>
                <a:tc>
                  <a:txBody>
                    <a:bodyPr/>
                    <a:lstStyle/>
                    <a:p>
                      <a:pPr marL="0" indent="0">
                        <a:buNone/>
                      </a:pPr>
                      <a:r>
                        <a:rPr lang="en-US" sz="1100" b="1" dirty="0">
                          <a:solidFill>
                            <a:srgbClr val="C62828"/>
                          </a:solidFill>
                          <a:latin typeface="Calibri" pitchFamily="34" charset="0"/>
                          <a:ea typeface="Calibri" pitchFamily="34" charset="-122"/>
                          <a:cs typeface="Calibri" pitchFamily="34" charset="-120"/>
                        </a:rPr>
                        <a:t>0,388  →  OVERFITTING SEVERO</a:t>
                      </a:r>
                      <a:endParaRPr lang="en-US" sz="1100" dirty="0">
                        <a:latin typeface="Calibri" charset="0"/>
                        <a:ea typeface="Calibri" charset="0"/>
                        <a:cs typeface="Calibri" charset="0"/>
                      </a:endParaRPr>
                    </a:p>
                  </a:txBody>
                  <a:tcP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tcPr>
                </a:tc>
                <a:extLst>
                  <a:ext uri="{0D108BD9-81ED-4DB2-BD59-A6C34878D82A}">
                    <a16:rowId xmlns:a16="http://schemas.microsoft.com/office/drawing/2014/main" val="10002"/>
                  </a:ext>
                </a:extLst>
              </a:tr>
              <a:tr h="502920">
                <a:tc>
                  <a:txBody>
                    <a:bodyPr/>
                    <a:lstStyle/>
                    <a:p>
                      <a:pPr marL="0" indent="0">
                        <a:buNone/>
                      </a:pPr>
                      <a:r>
                        <a:rPr lang="en-US" sz="1100" b="1" dirty="0">
                          <a:solidFill>
                            <a:srgbClr val="000000"/>
                          </a:solidFill>
                          <a:latin typeface="Calibri" pitchFamily="34" charset="0"/>
                          <a:ea typeface="Calibri" pitchFamily="34" charset="-122"/>
                          <a:cs typeface="Calibri" pitchFamily="34" charset="-120"/>
                        </a:rPr>
                        <a:t>3. Robustez</a:t>
                      </a:r>
                      <a:endParaRPr lang="en-US" sz="1100" dirty="0">
                        <a:latin typeface="Calibri" charset="0"/>
                        <a:ea typeface="Calibri" charset="0"/>
                        <a:cs typeface="Calibri" charset="0"/>
                      </a:endParaRPr>
                    </a:p>
                  </a:txBody>
                  <a:tcP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RSI medio / RSI mínimo</a:t>
                      </a:r>
                      <a:endParaRPr lang="en-US" sz="1100" dirty="0">
                        <a:latin typeface="Calibri" charset="0"/>
                        <a:ea typeface="Calibri" charset="0"/>
                        <a:cs typeface="Calibri" charset="0"/>
                      </a:endParaRPr>
                    </a:p>
                  </a:txBody>
                  <a:tcP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tcPr>
                </a:tc>
                <a:tc>
                  <a:txBody>
                    <a:bodyPr/>
                    <a:lstStyle/>
                    <a:p>
                      <a:pPr marL="0" indent="0">
                        <a:buNone/>
                      </a:pPr>
                      <a:r>
                        <a:rPr lang="en-US" sz="1100" b="1" dirty="0">
                          <a:solidFill>
                            <a:srgbClr val="C62828"/>
                          </a:solidFill>
                          <a:latin typeface="Calibri" pitchFamily="34" charset="0"/>
                          <a:ea typeface="Calibri" pitchFamily="34" charset="-122"/>
                          <a:cs typeface="Calibri" pitchFamily="34" charset="-120"/>
                        </a:rPr>
                        <a:t>0,810 / 0,479  ❌ Frágil (peor caso)</a:t>
                      </a:r>
                      <a:endParaRPr lang="en-US" sz="1100" dirty="0">
                        <a:latin typeface="Calibri" charset="0"/>
                        <a:ea typeface="Calibri" charset="0"/>
                        <a:cs typeface="Calibri" charset="0"/>
                      </a:endParaRPr>
                    </a:p>
                  </a:txBody>
                  <a:tcP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tcPr>
                </a:tc>
                <a:extLst>
                  <a:ext uri="{0D108BD9-81ED-4DB2-BD59-A6C34878D82A}">
                    <a16:rowId xmlns:a16="http://schemas.microsoft.com/office/drawing/2014/main" val="10003"/>
                  </a:ext>
                </a:extLst>
              </a:tr>
              <a:tr h="502920">
                <a:tc>
                  <a:txBody>
                    <a:bodyPr/>
                    <a:lstStyle/>
                    <a:p>
                      <a:pPr marL="0" indent="0">
                        <a:buNone/>
                      </a:pPr>
                      <a:r>
                        <a:rPr lang="en-US" sz="1100" b="1" dirty="0">
                          <a:solidFill>
                            <a:srgbClr val="000000"/>
                          </a:solidFill>
                          <a:latin typeface="Calibri" pitchFamily="34" charset="0"/>
                          <a:ea typeface="Calibri" pitchFamily="34" charset="-122"/>
                          <a:cs typeface="Calibri" pitchFamily="34" charset="-120"/>
                        </a:rPr>
                        <a:t>4. Optimización HP</a:t>
                      </a:r>
                      <a:endParaRPr lang="en-US" sz="1100" dirty="0">
                        <a:latin typeface="Calibri" charset="0"/>
                        <a:ea typeface="Calibri" charset="0"/>
                        <a:cs typeface="Calibri" charset="0"/>
                      </a:endParaRPr>
                    </a:p>
                  </a:txBody>
                  <a:tcP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F1 Macro baseline → optimizado</a:t>
                      </a:r>
                      <a:endParaRPr lang="en-US" sz="1100" dirty="0">
                        <a:latin typeface="Calibri" charset="0"/>
                        <a:ea typeface="Calibri" charset="0"/>
                        <a:cs typeface="Calibri" charset="0"/>
                      </a:endParaRPr>
                    </a:p>
                  </a:txBody>
                  <a:tcP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tcPr>
                </a:tc>
                <a:tc>
                  <a:txBody>
                    <a:bodyPr/>
                    <a:lstStyle/>
                    <a:p>
                      <a:pPr marL="0" indent="0">
                        <a:buNone/>
                      </a:pPr>
                      <a:r>
                        <a:rPr lang="en-US" sz="1100" b="1" dirty="0">
                          <a:solidFill>
                            <a:srgbClr val="2E7D32"/>
                          </a:solidFill>
                          <a:latin typeface="Calibri" pitchFamily="34" charset="0"/>
                          <a:ea typeface="Calibri" pitchFamily="34" charset="-122"/>
                          <a:cs typeface="Calibri" pitchFamily="34" charset="-120"/>
                        </a:rPr>
                        <a:t>0,445 → 0,467  (+2,22 pp)</a:t>
                      </a:r>
                      <a:endParaRPr lang="en-US" sz="1100" dirty="0">
                        <a:latin typeface="Calibri" charset="0"/>
                        <a:ea typeface="Calibri" charset="0"/>
                        <a:cs typeface="Calibri" charset="0"/>
                      </a:endParaRPr>
                    </a:p>
                  </a:txBody>
                  <a:tcP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5" name="Shape 2"/>
          <p:cNvSpPr/>
          <p:nvPr/>
        </p:nvSpPr>
        <p:spPr>
          <a:xfrm>
            <a:off x="457200" y="3931920"/>
            <a:ext cx="2743200" cy="1371600"/>
          </a:xfrm>
          <a:prstGeom prst="roundRect">
            <a:avLst>
              <a:gd name="adj" fmla="val 5333"/>
            </a:avLst>
          </a:prstGeom>
          <a:solidFill>
            <a:srgbClr val="FFFFFF"/>
          </a:solidFill>
          <a:ln w="25400">
            <a:solidFill>
              <a:srgbClr val="C62828"/>
            </a:solidFill>
            <a:prstDash val="solid"/>
          </a:ln>
        </p:spPr>
      </p:sp>
      <p:sp>
        <p:nvSpPr>
          <p:cNvPr id="6" name="Text 3"/>
          <p:cNvSpPr/>
          <p:nvPr/>
        </p:nvSpPr>
        <p:spPr>
          <a:xfrm>
            <a:off x="457200" y="4023360"/>
            <a:ext cx="2743200" cy="754380"/>
          </a:xfrm>
          <a:prstGeom prst="rect">
            <a:avLst/>
          </a:prstGeom>
          <a:noFill/>
          <a:ln/>
        </p:spPr>
        <p:txBody>
          <a:bodyPr wrap="square" rtlCol="0" anchor="ctr"/>
          <a:lstStyle/>
          <a:p>
            <a:pPr marL="0" indent="0" algn="ctr">
              <a:buNone/>
            </a:pPr>
            <a:r>
              <a:rPr lang="en-US" sz="3000" b="1" dirty="0">
                <a:solidFill>
                  <a:srgbClr val="C62828"/>
                </a:solidFill>
                <a:latin typeface="Calibri" pitchFamily="34" charset="0"/>
                <a:ea typeface="Calibri" pitchFamily="34" charset="-122"/>
                <a:cs typeface="Calibri" pitchFamily="34" charset="-120"/>
              </a:rPr>
              <a:t>0,499</a:t>
            </a:r>
            <a:endParaRPr lang="en-US" sz="3000" dirty="0"/>
          </a:p>
        </p:txBody>
      </p:sp>
      <p:sp>
        <p:nvSpPr>
          <p:cNvPr id="7" name="Text 4"/>
          <p:cNvSpPr/>
          <p:nvPr/>
        </p:nvSpPr>
        <p:spPr>
          <a:xfrm>
            <a:off x="548640" y="4727448"/>
            <a:ext cx="2560320" cy="548640"/>
          </a:xfrm>
          <a:prstGeom prst="rect">
            <a:avLst/>
          </a:prstGeom>
          <a:noFill/>
          <a:ln/>
        </p:spPr>
        <p:txBody>
          <a:bodyPr wrap="square" rtlCol="0" anchor="t"/>
          <a:lstStyle/>
          <a:p>
            <a:pPr marL="0" indent="0" algn="ctr">
              <a:buNone/>
            </a:pPr>
            <a:r>
              <a:rPr lang="en-US" sz="1000" dirty="0">
                <a:solidFill>
                  <a:srgbClr val="404040"/>
                </a:solidFill>
                <a:latin typeface="Calibri" pitchFamily="34" charset="0"/>
                <a:ea typeface="Calibri" pitchFamily="34" charset="-122"/>
                <a:cs typeface="Calibri" pitchFamily="34" charset="-120"/>
              </a:rPr>
              <a:t>DR Longitud (peor sesgo)</a:t>
            </a:r>
            <a:endParaRPr lang="en-US" sz="1000" dirty="0"/>
          </a:p>
        </p:txBody>
      </p:sp>
      <p:sp>
        <p:nvSpPr>
          <p:cNvPr id="8" name="Shape 5"/>
          <p:cNvSpPr/>
          <p:nvPr/>
        </p:nvSpPr>
        <p:spPr>
          <a:xfrm>
            <a:off x="3383280" y="3931920"/>
            <a:ext cx="2743200" cy="1371600"/>
          </a:xfrm>
          <a:prstGeom prst="roundRect">
            <a:avLst>
              <a:gd name="adj" fmla="val 5333"/>
            </a:avLst>
          </a:prstGeom>
          <a:solidFill>
            <a:srgbClr val="FFFFFF"/>
          </a:solidFill>
          <a:ln w="25400">
            <a:solidFill>
              <a:srgbClr val="C62828"/>
            </a:solidFill>
            <a:prstDash val="solid"/>
          </a:ln>
        </p:spPr>
      </p:sp>
      <p:sp>
        <p:nvSpPr>
          <p:cNvPr id="9" name="Text 6"/>
          <p:cNvSpPr/>
          <p:nvPr/>
        </p:nvSpPr>
        <p:spPr>
          <a:xfrm>
            <a:off x="3383280" y="4023360"/>
            <a:ext cx="2743200" cy="754380"/>
          </a:xfrm>
          <a:prstGeom prst="rect">
            <a:avLst/>
          </a:prstGeom>
          <a:noFill/>
          <a:ln/>
        </p:spPr>
        <p:txBody>
          <a:bodyPr wrap="square" rtlCol="0" anchor="ctr"/>
          <a:lstStyle/>
          <a:p>
            <a:pPr marL="0" indent="0" algn="ctr">
              <a:buNone/>
            </a:pPr>
            <a:r>
              <a:rPr lang="en-US" sz="3000" b="1" dirty="0">
                <a:solidFill>
                  <a:srgbClr val="C62828"/>
                </a:solidFill>
                <a:latin typeface="Calibri" pitchFamily="34" charset="0"/>
                <a:ea typeface="Calibri" pitchFamily="34" charset="-122"/>
                <a:cs typeface="Calibri" pitchFamily="34" charset="-120"/>
              </a:rPr>
              <a:t>0,388</a:t>
            </a:r>
            <a:endParaRPr lang="en-US" sz="3000" dirty="0"/>
          </a:p>
        </p:txBody>
      </p:sp>
      <p:sp>
        <p:nvSpPr>
          <p:cNvPr id="10" name="Text 7"/>
          <p:cNvSpPr/>
          <p:nvPr/>
        </p:nvSpPr>
        <p:spPr>
          <a:xfrm>
            <a:off x="3474720" y="4727448"/>
            <a:ext cx="2560320" cy="548640"/>
          </a:xfrm>
          <a:prstGeom prst="rect">
            <a:avLst/>
          </a:prstGeom>
          <a:noFill/>
          <a:ln/>
        </p:spPr>
        <p:txBody>
          <a:bodyPr wrap="square" rtlCol="0" anchor="t"/>
          <a:lstStyle/>
          <a:p>
            <a:pPr marL="0" indent="0" algn="ctr">
              <a:buNone/>
            </a:pPr>
            <a:r>
              <a:rPr lang="en-US" sz="1000" dirty="0">
                <a:solidFill>
                  <a:srgbClr val="404040"/>
                </a:solidFill>
                <a:latin typeface="Calibri" pitchFamily="34" charset="0"/>
                <a:ea typeface="Calibri" pitchFamily="34" charset="-122"/>
                <a:cs typeface="Calibri" pitchFamily="34" charset="-120"/>
              </a:rPr>
              <a:t>Gap train-val (overfitting)</a:t>
            </a:r>
            <a:endParaRPr lang="en-US" sz="1000" dirty="0"/>
          </a:p>
        </p:txBody>
      </p:sp>
      <p:sp>
        <p:nvSpPr>
          <p:cNvPr id="11" name="Shape 8"/>
          <p:cNvSpPr/>
          <p:nvPr/>
        </p:nvSpPr>
        <p:spPr>
          <a:xfrm>
            <a:off x="6309360" y="3931920"/>
            <a:ext cx="2743200" cy="1371600"/>
          </a:xfrm>
          <a:prstGeom prst="roundRect">
            <a:avLst>
              <a:gd name="adj" fmla="val 5333"/>
            </a:avLst>
          </a:prstGeom>
          <a:solidFill>
            <a:srgbClr val="FFFFFF"/>
          </a:solidFill>
          <a:ln w="25400">
            <a:solidFill>
              <a:srgbClr val="C62828"/>
            </a:solidFill>
            <a:prstDash val="solid"/>
          </a:ln>
        </p:spPr>
      </p:sp>
      <p:sp>
        <p:nvSpPr>
          <p:cNvPr id="12" name="Text 9"/>
          <p:cNvSpPr/>
          <p:nvPr/>
        </p:nvSpPr>
        <p:spPr>
          <a:xfrm>
            <a:off x="6309360" y="4023360"/>
            <a:ext cx="2743200" cy="754380"/>
          </a:xfrm>
          <a:prstGeom prst="rect">
            <a:avLst/>
          </a:prstGeom>
          <a:noFill/>
          <a:ln/>
        </p:spPr>
        <p:txBody>
          <a:bodyPr wrap="square" rtlCol="0" anchor="ctr"/>
          <a:lstStyle/>
          <a:p>
            <a:pPr marL="0" indent="0" algn="ctr">
              <a:buNone/>
            </a:pPr>
            <a:r>
              <a:rPr lang="en-US" sz="3000" b="1" dirty="0">
                <a:solidFill>
                  <a:srgbClr val="C62828"/>
                </a:solidFill>
                <a:latin typeface="Calibri" pitchFamily="34" charset="0"/>
                <a:ea typeface="Calibri" pitchFamily="34" charset="-122"/>
                <a:cs typeface="Calibri" pitchFamily="34" charset="-120"/>
              </a:rPr>
              <a:t>0,479</a:t>
            </a:r>
            <a:endParaRPr lang="en-US" sz="3000" dirty="0"/>
          </a:p>
        </p:txBody>
      </p:sp>
      <p:sp>
        <p:nvSpPr>
          <p:cNvPr id="13" name="Text 10"/>
          <p:cNvSpPr/>
          <p:nvPr/>
        </p:nvSpPr>
        <p:spPr>
          <a:xfrm>
            <a:off x="6400800" y="4727448"/>
            <a:ext cx="2560320" cy="548640"/>
          </a:xfrm>
          <a:prstGeom prst="rect">
            <a:avLst/>
          </a:prstGeom>
          <a:noFill/>
          <a:ln/>
        </p:spPr>
        <p:txBody>
          <a:bodyPr wrap="square" rtlCol="0" anchor="t"/>
          <a:lstStyle/>
          <a:p>
            <a:pPr marL="0" indent="0" algn="ctr">
              <a:buNone/>
            </a:pPr>
            <a:r>
              <a:rPr lang="en-US" sz="1000" dirty="0">
                <a:solidFill>
                  <a:srgbClr val="404040"/>
                </a:solidFill>
                <a:latin typeface="Calibri" pitchFamily="34" charset="0"/>
                <a:ea typeface="Calibri" pitchFamily="34" charset="-122"/>
                <a:cs typeface="Calibri" pitchFamily="34" charset="-120"/>
              </a:rPr>
              <a:t>RSI mínimo (frágil)</a:t>
            </a:r>
            <a:endParaRPr lang="en-US" sz="1000" dirty="0"/>
          </a:p>
        </p:txBody>
      </p:sp>
      <p:sp>
        <p:nvSpPr>
          <p:cNvPr id="14" name="Shape 11"/>
          <p:cNvSpPr/>
          <p:nvPr/>
        </p:nvSpPr>
        <p:spPr>
          <a:xfrm>
            <a:off x="9235440" y="3931920"/>
            <a:ext cx="2468880" cy="1371600"/>
          </a:xfrm>
          <a:prstGeom prst="roundRect">
            <a:avLst>
              <a:gd name="adj" fmla="val 5333"/>
            </a:avLst>
          </a:prstGeom>
          <a:solidFill>
            <a:srgbClr val="FFFFFF"/>
          </a:solidFill>
          <a:ln w="25400">
            <a:solidFill>
              <a:srgbClr val="2E7D32"/>
            </a:solidFill>
            <a:prstDash val="solid"/>
          </a:ln>
        </p:spPr>
      </p:sp>
      <p:sp>
        <p:nvSpPr>
          <p:cNvPr id="15" name="Text 12"/>
          <p:cNvSpPr/>
          <p:nvPr/>
        </p:nvSpPr>
        <p:spPr>
          <a:xfrm>
            <a:off x="9235440" y="4023360"/>
            <a:ext cx="2468880" cy="754380"/>
          </a:xfrm>
          <a:prstGeom prst="rect">
            <a:avLst/>
          </a:prstGeom>
          <a:noFill/>
          <a:ln/>
        </p:spPr>
        <p:txBody>
          <a:bodyPr wrap="square" rtlCol="0" anchor="ctr"/>
          <a:lstStyle/>
          <a:p>
            <a:pPr marL="0" indent="0" algn="ctr">
              <a:buNone/>
            </a:pPr>
            <a:r>
              <a:rPr lang="en-US" sz="3000" b="1" dirty="0">
                <a:solidFill>
                  <a:srgbClr val="2E7D32"/>
                </a:solidFill>
                <a:latin typeface="Calibri" pitchFamily="34" charset="0"/>
                <a:ea typeface="Calibri" pitchFamily="34" charset="-122"/>
                <a:cs typeface="Calibri" pitchFamily="34" charset="-120"/>
              </a:rPr>
              <a:t>+2,22 pp</a:t>
            </a:r>
            <a:endParaRPr lang="en-US" sz="3000" dirty="0"/>
          </a:p>
        </p:txBody>
      </p:sp>
      <p:sp>
        <p:nvSpPr>
          <p:cNvPr id="16" name="Text 13"/>
          <p:cNvSpPr/>
          <p:nvPr/>
        </p:nvSpPr>
        <p:spPr>
          <a:xfrm>
            <a:off x="9326880" y="4727448"/>
            <a:ext cx="2286000" cy="548640"/>
          </a:xfrm>
          <a:prstGeom prst="rect">
            <a:avLst/>
          </a:prstGeom>
          <a:noFill/>
          <a:ln/>
        </p:spPr>
        <p:txBody>
          <a:bodyPr wrap="square" rtlCol="0" anchor="t"/>
          <a:lstStyle/>
          <a:p>
            <a:pPr marL="0" indent="0" algn="ctr">
              <a:buNone/>
            </a:pPr>
            <a:r>
              <a:rPr lang="en-US" sz="1000" dirty="0">
                <a:solidFill>
                  <a:srgbClr val="404040"/>
                </a:solidFill>
                <a:latin typeface="Calibri" pitchFamily="34" charset="0"/>
                <a:ea typeface="Calibri" pitchFamily="34" charset="-122"/>
                <a:cs typeface="Calibri" pitchFamily="34" charset="-120"/>
              </a:rPr>
              <a:t>Mejora con tuning</a:t>
            </a:r>
            <a:endParaRPr lang="en-US" sz="1000" dirty="0"/>
          </a:p>
        </p:txBody>
      </p:sp>
      <p:sp>
        <p:nvSpPr>
          <p:cNvPr id="17" name="Shape 14"/>
          <p:cNvSpPr/>
          <p:nvPr/>
        </p:nvSpPr>
        <p:spPr>
          <a:xfrm>
            <a:off x="457200" y="5486400"/>
            <a:ext cx="11247120" cy="731520"/>
          </a:xfrm>
          <a:prstGeom prst="roundRect">
            <a:avLst>
              <a:gd name="adj" fmla="val 7500"/>
            </a:avLst>
          </a:prstGeom>
          <a:solidFill>
            <a:srgbClr val="821538"/>
          </a:solidFill>
          <a:ln/>
        </p:spPr>
      </p:sp>
      <p:sp>
        <p:nvSpPr>
          <p:cNvPr id="18" name="Text 15"/>
          <p:cNvSpPr/>
          <p:nvPr/>
        </p:nvSpPr>
        <p:spPr>
          <a:xfrm>
            <a:off x="640080" y="5577840"/>
            <a:ext cx="10972800" cy="548640"/>
          </a:xfrm>
          <a:prstGeom prst="rect">
            <a:avLst/>
          </a:prstGeom>
          <a:noFill/>
          <a:ln/>
        </p:spPr>
        <p:txBody>
          <a:bodyPr wrap="square" rtlCol="0" anchor="ctr"/>
          <a:lstStyle/>
          <a:p>
            <a:pPr marL="0" indent="0">
              <a:buNone/>
            </a:pPr>
            <a:r>
              <a:rPr lang="en-US" sz="1200" i="1" dirty="0">
                <a:solidFill>
                  <a:srgbClr val="FFFFFF"/>
                </a:solidFill>
                <a:latin typeface="Calibri" pitchFamily="34" charset="0"/>
                <a:ea typeface="Calibri" pitchFamily="34" charset="-122"/>
                <a:cs typeface="Calibri" pitchFamily="34" charset="-120"/>
              </a:rPr>
              <a:t>Modelo evaluado: Random Forest Classifier · Dataset: Spider (n=1.034 val) · Baseline F1 Macro = 0,4448</a:t>
            </a:r>
            <a:endParaRPr lang="en-US" sz="1200" dirty="0"/>
          </a:p>
        </p:txBody>
      </p:sp>
      <p:sp>
        <p:nvSpPr>
          <p:cNvPr id="25" name="Slide Number Placeholder 0"/>
          <p:cNvSpPr>
            <a:spLocks noGrp="1"/>
          </p:cNvSpPr>
          <p:nvPr>
            <p:ph type="sldNum" sz="quarter" idx="4294967295"/>
          </p:nvPr>
        </p:nvSpPr>
        <p:spPr>
          <a:xfrm>
            <a:off x="8412480" y="653796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404040"/>
                </a:solidFill>
                <a:latin typeface="Calibri"/>
                <a:ea typeface="Calibri"/>
                <a:cs typeface="Calibri"/>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2011680"/>
            <a:ext cx="11274552" cy="731520"/>
          </a:xfrm>
          <a:prstGeom prst="rect">
            <a:avLst/>
          </a:prstGeom>
          <a:noFill/>
          <a:ln/>
        </p:spPr>
        <p:txBody>
          <a:bodyPr wrap="square" rtlCol="0" anchor="ctr"/>
          <a:lstStyle/>
          <a:p>
            <a:pPr marL="0" indent="0" algn="ctr">
              <a:buNone/>
            </a:pPr>
            <a:r>
              <a:rPr lang="en-US" sz="6000" b="1" dirty="0">
                <a:solidFill>
                  <a:srgbClr val="FFFFFF"/>
                </a:solidFill>
                <a:latin typeface="Calibri" pitchFamily="34" charset="0"/>
                <a:ea typeface="Calibri" pitchFamily="34" charset="-122"/>
                <a:cs typeface="Calibri" pitchFamily="34" charset="-120"/>
              </a:rPr>
              <a:t>BLOQUE 1</a:t>
            </a:r>
            <a:endParaRPr lang="en-US" sz="6000" dirty="0"/>
          </a:p>
        </p:txBody>
      </p:sp>
      <p:sp>
        <p:nvSpPr>
          <p:cNvPr id="3" name="Text 1"/>
          <p:cNvSpPr/>
          <p:nvPr/>
        </p:nvSpPr>
        <p:spPr>
          <a:xfrm>
            <a:off x="457200" y="2926080"/>
            <a:ext cx="11274552" cy="548640"/>
          </a:xfrm>
          <a:prstGeom prst="rect">
            <a:avLst/>
          </a:prstGeom>
          <a:noFill/>
          <a:ln/>
        </p:spPr>
        <p:txBody>
          <a:bodyPr wrap="square" rtlCol="0" anchor="ctr"/>
          <a:lstStyle/>
          <a:p>
            <a:pPr marL="0" indent="0" algn="ctr">
              <a:buNone/>
            </a:pPr>
            <a:r>
              <a:rPr lang="en-US" sz="2800" i="1" dirty="0">
                <a:solidFill>
                  <a:srgbClr val="FFFFFF"/>
                </a:solidFill>
                <a:latin typeface="Calibri" pitchFamily="34" charset="0"/>
                <a:ea typeface="Calibri" pitchFamily="34" charset="-122"/>
                <a:cs typeface="Calibri" pitchFamily="34" charset="-120"/>
              </a:rPr>
              <a:t>Análisis de Sesgo y Equidad (Fairness)</a:t>
            </a:r>
            <a:endParaRPr lang="en-US" sz="2800" dirty="0"/>
          </a:p>
        </p:txBody>
      </p:sp>
      <p:sp>
        <p:nvSpPr>
          <p:cNvPr id="4" name="Shape 2"/>
          <p:cNvSpPr/>
          <p:nvPr/>
        </p:nvSpPr>
        <p:spPr>
          <a:xfrm>
            <a:off x="4114800" y="4114800"/>
            <a:ext cx="3959352" cy="36576"/>
          </a:xfrm>
          <a:prstGeom prst="rect">
            <a:avLst/>
          </a:prstGeom>
          <a:solidFill>
            <a:srgbClr val="FFFFFF"/>
          </a:solidFill>
          <a:ln/>
        </p:spPr>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274320"/>
            <a:ext cx="10698480" cy="731520"/>
          </a:xfrm>
          <a:prstGeom prst="rect">
            <a:avLst/>
          </a:prstGeom>
          <a:noFill/>
          <a:ln/>
        </p:spPr>
        <p:txBody>
          <a:bodyPr wrap="square" rtlCol="0" anchor="ctr"/>
          <a:lstStyle/>
          <a:p>
            <a:pPr marL="0" indent="0">
              <a:buNone/>
            </a:pPr>
            <a:r>
              <a:rPr lang="en-US" sz="3000" b="1" dirty="0">
                <a:solidFill>
                  <a:srgbClr val="821538"/>
                </a:solidFill>
                <a:latin typeface="Calibri" pitchFamily="34" charset="0"/>
                <a:ea typeface="Calibri" pitchFamily="34" charset="-122"/>
                <a:cs typeface="Calibri" pitchFamily="34" charset="-120"/>
              </a:rPr>
              <a:t>Bloque 1 · Sesgo algorítmico</a:t>
            </a:r>
            <a:endParaRPr lang="en-US" sz="3000" dirty="0"/>
          </a:p>
        </p:txBody>
      </p:sp>
      <p:sp>
        <p:nvSpPr>
          <p:cNvPr id="3" name="Shape 1"/>
          <p:cNvSpPr/>
          <p:nvPr/>
        </p:nvSpPr>
        <p:spPr>
          <a:xfrm>
            <a:off x="457200" y="960120"/>
            <a:ext cx="11247120" cy="0"/>
          </a:xfrm>
          <a:prstGeom prst="line">
            <a:avLst/>
          </a:prstGeom>
          <a:noFill/>
          <a:ln w="25400">
            <a:solidFill>
              <a:srgbClr val="821538"/>
            </a:solidFill>
            <a:prstDash val="solid"/>
          </a:ln>
        </p:spPr>
      </p:sp>
      <p:pic>
        <p:nvPicPr>
          <p:cNvPr id="4" name="Image 0" descr="/home/claude/parte8/image1.png"/>
          <p:cNvPicPr>
            <a:picLocks noChangeAspect="1"/>
          </p:cNvPicPr>
          <p:nvPr/>
        </p:nvPicPr>
        <p:blipFill>
          <a:blip r:embed="rId3"/>
          <a:stretch>
            <a:fillRect/>
          </a:stretch>
        </p:blipFill>
        <p:spPr>
          <a:xfrm>
            <a:off x="274320" y="1188720"/>
            <a:ext cx="6858000" cy="3657600"/>
          </a:xfrm>
          <a:prstGeom prst="rect">
            <a:avLst/>
          </a:prstGeom>
        </p:spPr>
      </p:pic>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7315200" y="1188720"/>
          <a:ext cx="4572000" cy="1463040"/>
        </p:xfrm>
        <a:graphic>
          <a:graphicData uri="http://schemas.openxmlformats.org/drawingml/2006/table">
            <a:tbl>
              <a:tblPr/>
              <a:tblGrid>
                <a:gridCol w="1828800">
                  <a:extLst>
                    <a:ext uri="{9D8B030D-6E8A-4147-A177-3AD203B41FA5}">
                      <a16:colId xmlns:a16="http://schemas.microsoft.com/office/drawing/2014/main" val="20000"/>
                    </a:ext>
                  </a:extLst>
                </a:gridCol>
                <a:gridCol w="1097280">
                  <a:extLst>
                    <a:ext uri="{9D8B030D-6E8A-4147-A177-3AD203B41FA5}">
                      <a16:colId xmlns:a16="http://schemas.microsoft.com/office/drawing/2014/main" val="20001"/>
                    </a:ext>
                  </a:extLst>
                </a:gridCol>
                <a:gridCol w="1645920">
                  <a:extLst>
                    <a:ext uri="{9D8B030D-6E8A-4147-A177-3AD203B41FA5}">
                      <a16:colId xmlns:a16="http://schemas.microsoft.com/office/drawing/2014/main" val="20002"/>
                    </a:ext>
                  </a:extLst>
                </a:gridCol>
              </a:tblGrid>
              <a:tr h="365760">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Variable</a:t>
                      </a:r>
                      <a:endParaRPr lang="en-US" sz="1100" dirty="0">
                        <a:latin typeface="Calibri" charset="0"/>
                        <a:ea typeface="Calibri" charset="0"/>
                        <a:cs typeface="Calibri" charset="0"/>
                      </a:endParaRPr>
                    </a:p>
                  </a:txBody>
                  <a:tcP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821538"/>
                    </a:solidFill>
                  </a:tcPr>
                </a:tc>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DR</a:t>
                      </a:r>
                      <a:endParaRPr lang="en-US" sz="1100" dirty="0">
                        <a:latin typeface="Calibri" charset="0"/>
                        <a:ea typeface="Calibri" charset="0"/>
                        <a:cs typeface="Calibri" charset="0"/>
                      </a:endParaRPr>
                    </a:p>
                  </a:txBody>
                  <a:tcP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821538"/>
                    </a:solidFill>
                  </a:tcPr>
                </a:tc>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Regla 80%</a:t>
                      </a:r>
                      <a:endParaRPr lang="en-US" sz="1100" dirty="0">
                        <a:latin typeface="Calibri" charset="0"/>
                        <a:ea typeface="Calibri" charset="0"/>
                        <a:cs typeface="Calibri" charset="0"/>
                      </a:endParaRPr>
                    </a:p>
                  </a:txBody>
                  <a:tcP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821538"/>
                    </a:solidFill>
                  </a:tcPr>
                </a:tc>
                <a:extLst>
                  <a:ext uri="{0D108BD9-81ED-4DB2-BD59-A6C34878D82A}">
                    <a16:rowId xmlns:a16="http://schemas.microsoft.com/office/drawing/2014/main" val="10000"/>
                  </a:ext>
                </a:extLst>
              </a:tr>
              <a:tr h="365760">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Longitud</a:t>
                      </a:r>
                      <a:endParaRPr lang="en-US" sz="1100" dirty="0">
                        <a:latin typeface="Calibri" charset="0"/>
                        <a:ea typeface="Calibri" charset="0"/>
                        <a:cs typeface="Calibri" charset="0"/>
                      </a:endParaRPr>
                    </a:p>
                  </a:txBody>
                  <a:tcP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tcPr>
                </a:tc>
                <a:tc>
                  <a:txBody>
                    <a:bodyPr/>
                    <a:lstStyle/>
                    <a:p>
                      <a:pPr marL="0" indent="0" algn="ctr">
                        <a:buNone/>
                      </a:pPr>
                      <a:r>
                        <a:rPr lang="en-US" sz="1200" b="1" dirty="0">
                          <a:solidFill>
                            <a:srgbClr val="C62828"/>
                          </a:solidFill>
                          <a:latin typeface="Calibri" pitchFamily="34" charset="0"/>
                          <a:ea typeface="Calibri" pitchFamily="34" charset="-122"/>
                          <a:cs typeface="Calibri" pitchFamily="34" charset="-120"/>
                        </a:rPr>
                        <a:t>0,499</a:t>
                      </a:r>
                      <a:endParaRPr lang="en-US" sz="1200" dirty="0">
                        <a:latin typeface="Calibri" charset="0"/>
                        <a:ea typeface="Calibri" charset="0"/>
                        <a:cs typeface="Calibri" charset="0"/>
                      </a:endParaRPr>
                    </a:p>
                  </a:txBody>
                  <a:tcP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tcPr>
                </a:tc>
                <a:tc>
                  <a:txBody>
                    <a:bodyPr/>
                    <a:lstStyle/>
                    <a:p>
                      <a:pPr marL="0" indent="0" algn="ctr">
                        <a:buNone/>
                      </a:pPr>
                      <a:r>
                        <a:rPr lang="en-US" sz="1100" b="1" dirty="0">
                          <a:solidFill>
                            <a:srgbClr val="C62828"/>
                          </a:solidFill>
                          <a:latin typeface="Calibri" pitchFamily="34" charset="0"/>
                          <a:ea typeface="Calibri" pitchFamily="34" charset="-122"/>
                          <a:cs typeface="Calibri" pitchFamily="34" charset="-120"/>
                        </a:rPr>
                        <a:t>❌ No</a:t>
                      </a:r>
                      <a:endParaRPr lang="en-US" sz="1100" dirty="0">
                        <a:latin typeface="Calibri" charset="0"/>
                        <a:ea typeface="Calibri" charset="0"/>
                        <a:cs typeface="Calibri" charset="0"/>
                      </a:endParaRPr>
                    </a:p>
                  </a:txBody>
                  <a:tcP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tcPr>
                </a:tc>
                <a:extLst>
                  <a:ext uri="{0D108BD9-81ED-4DB2-BD59-A6C34878D82A}">
                    <a16:rowId xmlns:a16="http://schemas.microsoft.com/office/drawing/2014/main" val="10001"/>
                  </a:ext>
                </a:extLst>
              </a:tr>
              <a:tr h="365760">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JOIN en SQL</a:t>
                      </a:r>
                      <a:endParaRPr lang="en-US" sz="1100" dirty="0">
                        <a:latin typeface="Calibri" charset="0"/>
                        <a:ea typeface="Calibri" charset="0"/>
                        <a:cs typeface="Calibri" charset="0"/>
                      </a:endParaRPr>
                    </a:p>
                  </a:txBody>
                  <a:tcP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tcPr>
                </a:tc>
                <a:tc>
                  <a:txBody>
                    <a:bodyPr/>
                    <a:lstStyle/>
                    <a:p>
                      <a:pPr marL="0" indent="0" algn="ctr">
                        <a:buNone/>
                      </a:pPr>
                      <a:r>
                        <a:rPr lang="en-US" sz="1200" b="1" dirty="0">
                          <a:solidFill>
                            <a:srgbClr val="C62828"/>
                          </a:solidFill>
                          <a:latin typeface="Calibri" pitchFamily="34" charset="0"/>
                          <a:ea typeface="Calibri" pitchFamily="34" charset="-122"/>
                          <a:cs typeface="Calibri" pitchFamily="34" charset="-120"/>
                        </a:rPr>
                        <a:t>0,674</a:t>
                      </a:r>
                      <a:endParaRPr lang="en-US" sz="1200" dirty="0">
                        <a:latin typeface="Calibri" charset="0"/>
                        <a:ea typeface="Calibri" charset="0"/>
                        <a:cs typeface="Calibri" charset="0"/>
                      </a:endParaRPr>
                    </a:p>
                  </a:txBody>
                  <a:tcP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tcPr>
                </a:tc>
                <a:tc>
                  <a:txBody>
                    <a:bodyPr/>
                    <a:lstStyle/>
                    <a:p>
                      <a:pPr marL="0" indent="0" algn="ctr">
                        <a:buNone/>
                      </a:pPr>
                      <a:r>
                        <a:rPr lang="en-US" sz="1100" b="1" dirty="0">
                          <a:solidFill>
                            <a:srgbClr val="C62828"/>
                          </a:solidFill>
                          <a:latin typeface="Calibri" pitchFamily="34" charset="0"/>
                          <a:ea typeface="Calibri" pitchFamily="34" charset="-122"/>
                          <a:cs typeface="Calibri" pitchFamily="34" charset="-120"/>
                        </a:rPr>
                        <a:t>❌ No</a:t>
                      </a:r>
                      <a:endParaRPr lang="en-US" sz="1100" dirty="0">
                        <a:latin typeface="Calibri" charset="0"/>
                        <a:ea typeface="Calibri" charset="0"/>
                        <a:cs typeface="Calibri" charset="0"/>
                      </a:endParaRPr>
                    </a:p>
                  </a:txBody>
                  <a:tcP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tcPr>
                </a:tc>
                <a:extLst>
                  <a:ext uri="{0D108BD9-81ED-4DB2-BD59-A6C34878D82A}">
                    <a16:rowId xmlns:a16="http://schemas.microsoft.com/office/drawing/2014/main" val="10002"/>
                  </a:ext>
                </a:extLst>
              </a:tr>
              <a:tr h="365760">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Dominio</a:t>
                      </a:r>
                      <a:endParaRPr lang="en-US" sz="1100" dirty="0">
                        <a:latin typeface="Calibri" charset="0"/>
                        <a:ea typeface="Calibri" charset="0"/>
                        <a:cs typeface="Calibri" charset="0"/>
                      </a:endParaRPr>
                    </a:p>
                  </a:txBody>
                  <a:tcP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tcPr>
                </a:tc>
                <a:tc>
                  <a:txBody>
                    <a:bodyPr/>
                    <a:lstStyle/>
                    <a:p>
                      <a:pPr marL="0" indent="0" algn="ctr">
                        <a:buNone/>
                      </a:pPr>
                      <a:r>
                        <a:rPr lang="en-US" sz="1200" b="1" dirty="0">
                          <a:solidFill>
                            <a:srgbClr val="C62828"/>
                          </a:solidFill>
                          <a:latin typeface="Calibri" pitchFamily="34" charset="0"/>
                          <a:ea typeface="Calibri" pitchFamily="34" charset="-122"/>
                          <a:cs typeface="Calibri" pitchFamily="34" charset="-120"/>
                        </a:rPr>
                        <a:t>0,620</a:t>
                      </a:r>
                      <a:endParaRPr lang="en-US" sz="1200" dirty="0">
                        <a:latin typeface="Calibri" charset="0"/>
                        <a:ea typeface="Calibri" charset="0"/>
                        <a:cs typeface="Calibri" charset="0"/>
                      </a:endParaRPr>
                    </a:p>
                  </a:txBody>
                  <a:tcP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tcPr>
                </a:tc>
                <a:tc>
                  <a:txBody>
                    <a:bodyPr/>
                    <a:lstStyle/>
                    <a:p>
                      <a:pPr marL="0" indent="0" algn="ctr">
                        <a:buNone/>
                      </a:pPr>
                      <a:r>
                        <a:rPr lang="en-US" sz="1100" b="1" dirty="0">
                          <a:solidFill>
                            <a:srgbClr val="C62828"/>
                          </a:solidFill>
                          <a:latin typeface="Calibri" pitchFamily="34" charset="0"/>
                          <a:ea typeface="Calibri" pitchFamily="34" charset="-122"/>
                          <a:cs typeface="Calibri" pitchFamily="34" charset="-120"/>
                        </a:rPr>
                        <a:t>❌ No</a:t>
                      </a:r>
                      <a:endParaRPr lang="en-US" sz="1100" dirty="0">
                        <a:latin typeface="Calibri" charset="0"/>
                        <a:ea typeface="Calibri" charset="0"/>
                        <a:cs typeface="Calibri" charset="0"/>
                      </a:endParaRPr>
                    </a:p>
                  </a:txBody>
                  <a:tcP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5" name="Shape 2"/>
          <p:cNvSpPr/>
          <p:nvPr/>
        </p:nvSpPr>
        <p:spPr>
          <a:xfrm>
            <a:off x="7315200" y="2926080"/>
            <a:ext cx="4572000" cy="1920240"/>
          </a:xfrm>
          <a:prstGeom prst="roundRect">
            <a:avLst>
              <a:gd name="adj" fmla="val 2857"/>
            </a:avLst>
          </a:prstGeom>
          <a:solidFill>
            <a:srgbClr val="F2F2F2"/>
          </a:solidFill>
          <a:ln w="19050">
            <a:solidFill>
              <a:srgbClr val="821538"/>
            </a:solidFill>
            <a:prstDash val="solid"/>
          </a:ln>
        </p:spPr>
      </p:sp>
      <p:sp>
        <p:nvSpPr>
          <p:cNvPr id="7" name="Text 3"/>
          <p:cNvSpPr/>
          <p:nvPr/>
        </p:nvSpPr>
        <p:spPr>
          <a:xfrm>
            <a:off x="7452360" y="3017520"/>
            <a:ext cx="4297680" cy="320040"/>
          </a:xfrm>
          <a:prstGeom prst="rect">
            <a:avLst/>
          </a:prstGeom>
          <a:noFill/>
          <a:ln/>
        </p:spPr>
        <p:txBody>
          <a:bodyPr wrap="square" rtlCol="0" anchor="ctr"/>
          <a:lstStyle/>
          <a:p>
            <a:pPr marL="0" indent="0">
              <a:buNone/>
            </a:pPr>
            <a:r>
              <a:rPr lang="en-US" sz="1300" b="1" dirty="0">
                <a:solidFill>
                  <a:srgbClr val="821538"/>
                </a:solidFill>
                <a:latin typeface="Calibri" pitchFamily="34" charset="0"/>
                <a:ea typeface="Calibri" pitchFamily="34" charset="-122"/>
                <a:cs typeface="Calibri" pitchFamily="34" charset="-120"/>
              </a:rPr>
              <a:t>Mitigación: Reweighting</a:t>
            </a:r>
            <a:endParaRPr lang="en-US" sz="1300" dirty="0"/>
          </a:p>
        </p:txBody>
      </p:sp>
      <p:sp>
        <p:nvSpPr>
          <p:cNvPr id="8" name="Text 4"/>
          <p:cNvSpPr/>
          <p:nvPr/>
        </p:nvSpPr>
        <p:spPr>
          <a:xfrm>
            <a:off x="7452360" y="3337560"/>
            <a:ext cx="4297680" cy="1463040"/>
          </a:xfrm>
          <a:prstGeom prst="rect">
            <a:avLst/>
          </a:prstGeom>
          <a:noFill/>
          <a:ln/>
        </p:spPr>
        <p:txBody>
          <a:bodyPr wrap="square" rtlCol="0" anchor="t"/>
          <a:lstStyle/>
          <a:p>
            <a:pPr marL="0" indent="0">
              <a:buNone/>
            </a:pPr>
            <a:r>
              <a:rPr lang="en-US" sz="1200" dirty="0">
                <a:solidFill>
                  <a:srgbClr val="404040"/>
                </a:solidFill>
              </a:rPr>
              <a:t>DR antes: </a:t>
            </a:r>
            <a:r>
              <a:rPr lang="en-US" sz="1400" b="1" dirty="0">
                <a:solidFill>
                  <a:srgbClr val="C62828"/>
                </a:solidFill>
              </a:rPr>
              <a:t>0,499</a:t>
            </a:r>
            <a:endParaRPr lang="en-US" sz="1200" dirty="0"/>
          </a:p>
          <a:p>
            <a:pPr marL="0" indent="0">
              <a:buNone/>
            </a:pPr>
            <a:r>
              <a:rPr lang="en-US" sz="1200" dirty="0">
                <a:solidFill>
                  <a:srgbClr val="404040"/>
                </a:solidFill>
              </a:rPr>
              <a:t>DR después: </a:t>
            </a:r>
            <a:endParaRPr lang="en-US" sz="1200" dirty="0"/>
          </a:p>
          <a:p>
            <a:pPr marL="0" indent="0">
              <a:buNone/>
            </a:pPr>
            <a:r>
              <a:rPr lang="en-US" sz="1400" b="1" dirty="0">
                <a:solidFill>
                  <a:srgbClr val="E65100"/>
                </a:solidFill>
              </a:rPr>
              <a:t>0,629</a:t>
            </a:r>
            <a:endParaRPr lang="en-US" sz="1200" dirty="0"/>
          </a:p>
          <a:p>
            <a:pPr marL="0" indent="0">
              <a:buNone/>
            </a:pPr>
            <a:endParaRPr lang="en-US" sz="1200" dirty="0"/>
          </a:p>
          <a:p>
            <a:pPr marL="0" indent="0">
              <a:buNone/>
            </a:pPr>
            <a:r>
              <a:rPr lang="en-US" sz="1100" dirty="0">
                <a:solidFill>
                  <a:srgbClr val="404040"/>
                </a:solidFill>
              </a:rPr>
              <a:t>Mejora de +13 pp pero sigue </a:t>
            </a:r>
            <a:endParaRPr lang="en-US" sz="1200" dirty="0"/>
          </a:p>
          <a:p>
            <a:pPr marL="0" indent="0">
              <a:buNone/>
            </a:pPr>
            <a:r>
              <a:rPr lang="en-US" sz="1100" b="1" dirty="0">
                <a:solidFill>
                  <a:srgbClr val="C62828"/>
                </a:solidFill>
              </a:rPr>
              <a:t>por debajo del umbral 80%</a:t>
            </a:r>
            <a:r>
              <a:rPr lang="en-US" sz="1100" dirty="0">
                <a:solidFill>
                  <a:srgbClr val="404040"/>
                </a:solidFill>
              </a:rPr>
              <a:t>. Requiere intervenciones adicionales.</a:t>
            </a:r>
            <a:endParaRPr lang="en-US" sz="1200" dirty="0"/>
          </a:p>
        </p:txBody>
      </p:sp>
      <p:sp>
        <p:nvSpPr>
          <p:cNvPr id="9" name="Shape 5"/>
          <p:cNvSpPr/>
          <p:nvPr/>
        </p:nvSpPr>
        <p:spPr>
          <a:xfrm>
            <a:off x="457200" y="5120640"/>
            <a:ext cx="11247120" cy="1097280"/>
          </a:xfrm>
          <a:prstGeom prst="roundRect">
            <a:avLst>
              <a:gd name="adj" fmla="val 5000"/>
            </a:avLst>
          </a:prstGeom>
          <a:solidFill>
            <a:srgbClr val="821538"/>
          </a:solidFill>
          <a:ln/>
        </p:spPr>
      </p:sp>
      <p:sp>
        <p:nvSpPr>
          <p:cNvPr id="10" name="Text 6"/>
          <p:cNvSpPr/>
          <p:nvPr/>
        </p:nvSpPr>
        <p:spPr>
          <a:xfrm>
            <a:off x="640080" y="5212080"/>
            <a:ext cx="10972800" cy="914400"/>
          </a:xfrm>
          <a:prstGeom prst="rect">
            <a:avLst/>
          </a:prstGeom>
          <a:noFill/>
          <a:ln/>
        </p:spPr>
        <p:txBody>
          <a:bodyPr wrap="square" rtlCol="0" anchor="ctr"/>
          <a:lstStyle/>
          <a:p>
            <a:pPr marL="0" indent="0">
              <a:buNone/>
            </a:pPr>
            <a:r>
              <a:rPr lang="en-US" sz="1300" b="1" dirty="0">
                <a:solidFill>
                  <a:srgbClr val="FFFFFF"/>
                </a:solidFill>
              </a:rPr>
              <a:t>Hallazgo: </a:t>
            </a:r>
            <a:r>
              <a:rPr lang="en-US" sz="1200" i="1" dirty="0">
                <a:solidFill>
                  <a:srgbClr val="FFFFFF"/>
                </a:solidFill>
              </a:rPr>
              <a:t>las preguntas muy cortas alcanzan Accuracy = 0,82, mientras que las largas solo 0,41 — brecha de 41 pp. La longitud de la pregunta es la variable proxy con mayor disparidad.</a:t>
            </a:r>
            <a:endParaRPr lang="en-US" sz="1300" dirty="0"/>
          </a:p>
        </p:txBody>
      </p:sp>
      <p:sp>
        <p:nvSpPr>
          <p:cNvPr id="25" name="Slide Number Placeholder 0"/>
          <p:cNvSpPr>
            <a:spLocks noGrp="1"/>
          </p:cNvSpPr>
          <p:nvPr>
            <p:ph type="sldNum" sz="quarter" idx="4294967295"/>
          </p:nvPr>
        </p:nvSpPr>
        <p:spPr>
          <a:xfrm>
            <a:off x="8412480" y="653796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404040"/>
                </a:solidFill>
                <a:latin typeface="Calibri"/>
                <a:ea typeface="Calibri"/>
                <a:cs typeface="Calibri"/>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2011680"/>
            <a:ext cx="11274552" cy="731520"/>
          </a:xfrm>
          <a:prstGeom prst="rect">
            <a:avLst/>
          </a:prstGeom>
          <a:noFill/>
          <a:ln/>
        </p:spPr>
        <p:txBody>
          <a:bodyPr wrap="square" rtlCol="0" anchor="ctr"/>
          <a:lstStyle/>
          <a:p>
            <a:pPr marL="0" indent="0" algn="ctr">
              <a:buNone/>
            </a:pPr>
            <a:r>
              <a:rPr lang="en-US" sz="6000" b="1" dirty="0">
                <a:solidFill>
                  <a:srgbClr val="FFFFFF"/>
                </a:solidFill>
                <a:latin typeface="Calibri" pitchFamily="34" charset="0"/>
                <a:ea typeface="Calibri" pitchFamily="34" charset="-122"/>
                <a:cs typeface="Calibri" pitchFamily="34" charset="-120"/>
              </a:rPr>
              <a:t>BLOQUE 2</a:t>
            </a:r>
            <a:endParaRPr lang="en-US" sz="6000" dirty="0"/>
          </a:p>
        </p:txBody>
      </p:sp>
      <p:sp>
        <p:nvSpPr>
          <p:cNvPr id="3" name="Text 1"/>
          <p:cNvSpPr/>
          <p:nvPr/>
        </p:nvSpPr>
        <p:spPr>
          <a:xfrm>
            <a:off x="457200" y="2926080"/>
            <a:ext cx="11274552" cy="548640"/>
          </a:xfrm>
          <a:prstGeom prst="rect">
            <a:avLst/>
          </a:prstGeom>
          <a:noFill/>
          <a:ln/>
        </p:spPr>
        <p:txBody>
          <a:bodyPr wrap="square" rtlCol="0" anchor="ctr"/>
          <a:lstStyle/>
          <a:p>
            <a:pPr marL="0" indent="0" algn="ctr">
              <a:buNone/>
            </a:pPr>
            <a:r>
              <a:rPr lang="en-US" sz="2800" i="1" dirty="0">
                <a:solidFill>
                  <a:srgbClr val="FFFFFF"/>
                </a:solidFill>
                <a:latin typeface="Calibri" pitchFamily="34" charset="0"/>
                <a:ea typeface="Calibri" pitchFamily="34" charset="-122"/>
                <a:cs typeface="Calibri" pitchFamily="34" charset="-120"/>
              </a:rPr>
              <a:t>Diagnóstico de Generalización</a:t>
            </a:r>
            <a:endParaRPr lang="en-US" sz="2800" dirty="0"/>
          </a:p>
        </p:txBody>
      </p:sp>
      <p:sp>
        <p:nvSpPr>
          <p:cNvPr id="4" name="Shape 2"/>
          <p:cNvSpPr/>
          <p:nvPr/>
        </p:nvSpPr>
        <p:spPr>
          <a:xfrm>
            <a:off x="4114800" y="4114800"/>
            <a:ext cx="3959352" cy="36576"/>
          </a:xfrm>
          <a:prstGeom prst="rect">
            <a:avLst/>
          </a:prstGeom>
          <a:solidFill>
            <a:srgbClr val="FFFFFF"/>
          </a:solidFill>
          <a:ln/>
        </p:spPr>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274320"/>
            <a:ext cx="10698480" cy="731520"/>
          </a:xfrm>
          <a:prstGeom prst="rect">
            <a:avLst/>
          </a:prstGeom>
          <a:noFill/>
          <a:ln/>
        </p:spPr>
        <p:txBody>
          <a:bodyPr wrap="square" rtlCol="0" anchor="ctr"/>
          <a:lstStyle/>
          <a:p>
            <a:pPr marL="0" indent="0">
              <a:buNone/>
            </a:pPr>
            <a:r>
              <a:rPr lang="en-US" sz="3000" b="1" dirty="0">
                <a:solidFill>
                  <a:srgbClr val="821538"/>
                </a:solidFill>
                <a:latin typeface="Calibri" pitchFamily="34" charset="0"/>
                <a:ea typeface="Calibri" pitchFamily="34" charset="-122"/>
                <a:cs typeface="Calibri" pitchFamily="34" charset="-120"/>
              </a:rPr>
              <a:t>Bloque 2 · Diagnóstico de generalización</a:t>
            </a:r>
            <a:endParaRPr lang="en-US" sz="3000" dirty="0"/>
          </a:p>
        </p:txBody>
      </p:sp>
      <p:sp>
        <p:nvSpPr>
          <p:cNvPr id="3" name="Shape 1"/>
          <p:cNvSpPr/>
          <p:nvPr/>
        </p:nvSpPr>
        <p:spPr>
          <a:xfrm>
            <a:off x="457200" y="960120"/>
            <a:ext cx="11247120" cy="0"/>
          </a:xfrm>
          <a:prstGeom prst="line">
            <a:avLst/>
          </a:prstGeom>
          <a:noFill/>
          <a:ln w="25400">
            <a:solidFill>
              <a:srgbClr val="821538"/>
            </a:solidFill>
            <a:prstDash val="solid"/>
          </a:ln>
        </p:spPr>
      </p:sp>
      <p:pic>
        <p:nvPicPr>
          <p:cNvPr id="4" name="Image 0" descr="/home/claude/parte8/image2.png"/>
          <p:cNvPicPr>
            <a:picLocks noChangeAspect="1"/>
          </p:cNvPicPr>
          <p:nvPr/>
        </p:nvPicPr>
        <p:blipFill>
          <a:blip r:embed="rId3"/>
          <a:stretch>
            <a:fillRect/>
          </a:stretch>
        </p:blipFill>
        <p:spPr>
          <a:xfrm>
            <a:off x="274320" y="1188720"/>
            <a:ext cx="7315200" cy="2926080"/>
          </a:xfrm>
          <a:prstGeom prst="rect">
            <a:avLst/>
          </a:prstGeom>
        </p:spPr>
      </p:pic>
      <p:sp>
        <p:nvSpPr>
          <p:cNvPr id="5" name="Shape 2"/>
          <p:cNvSpPr/>
          <p:nvPr/>
        </p:nvSpPr>
        <p:spPr>
          <a:xfrm>
            <a:off x="7772400" y="1188720"/>
            <a:ext cx="3931920" cy="1280160"/>
          </a:xfrm>
          <a:prstGeom prst="roundRect">
            <a:avLst>
              <a:gd name="adj" fmla="val 5714"/>
            </a:avLst>
          </a:prstGeom>
          <a:solidFill>
            <a:srgbClr val="FFFFFF"/>
          </a:solidFill>
          <a:ln w="25400">
            <a:solidFill>
              <a:srgbClr val="C62828"/>
            </a:solidFill>
            <a:prstDash val="solid"/>
          </a:ln>
        </p:spPr>
      </p:sp>
      <p:sp>
        <p:nvSpPr>
          <p:cNvPr id="6" name="Text 3"/>
          <p:cNvSpPr/>
          <p:nvPr/>
        </p:nvSpPr>
        <p:spPr>
          <a:xfrm>
            <a:off x="7772400" y="1280160"/>
            <a:ext cx="3931920" cy="704088"/>
          </a:xfrm>
          <a:prstGeom prst="rect">
            <a:avLst/>
          </a:prstGeom>
          <a:noFill/>
          <a:ln/>
        </p:spPr>
        <p:txBody>
          <a:bodyPr wrap="square" rtlCol="0" anchor="ctr"/>
          <a:lstStyle/>
          <a:p>
            <a:pPr marL="0" indent="0" algn="ctr">
              <a:buNone/>
            </a:pPr>
            <a:r>
              <a:rPr lang="en-US" sz="3000" b="1" dirty="0">
                <a:solidFill>
                  <a:srgbClr val="C62828"/>
                </a:solidFill>
                <a:latin typeface="Calibri" pitchFamily="34" charset="0"/>
                <a:ea typeface="Calibri" pitchFamily="34" charset="-122"/>
                <a:cs typeface="Calibri" pitchFamily="34" charset="-120"/>
              </a:rPr>
              <a:t>0,388</a:t>
            </a:r>
            <a:endParaRPr lang="en-US" sz="3000" dirty="0"/>
          </a:p>
        </p:txBody>
      </p:sp>
      <p:sp>
        <p:nvSpPr>
          <p:cNvPr id="7" name="Text 4"/>
          <p:cNvSpPr/>
          <p:nvPr/>
        </p:nvSpPr>
        <p:spPr>
          <a:xfrm>
            <a:off x="7863840" y="1931213"/>
            <a:ext cx="3749040" cy="512064"/>
          </a:xfrm>
          <a:prstGeom prst="rect">
            <a:avLst/>
          </a:prstGeom>
          <a:noFill/>
          <a:ln/>
        </p:spPr>
        <p:txBody>
          <a:bodyPr wrap="square" rtlCol="0" anchor="t"/>
          <a:lstStyle/>
          <a:p>
            <a:pPr marL="0" indent="0" algn="ctr">
              <a:buNone/>
            </a:pPr>
            <a:r>
              <a:rPr lang="en-US" sz="1000" dirty="0">
                <a:solidFill>
                  <a:srgbClr val="404040"/>
                </a:solidFill>
                <a:latin typeface="Calibri" pitchFamily="34" charset="0"/>
                <a:ea typeface="Calibri" pitchFamily="34" charset="-122"/>
                <a:cs typeface="Calibri" pitchFamily="34" charset="-120"/>
              </a:rPr>
              <a:t>Gap train-val (F1 Macro)</a:t>
            </a:r>
            <a:endParaRPr lang="en-US" sz="1000" dirty="0"/>
          </a:p>
        </p:txBody>
      </p:sp>
      <p:sp>
        <p:nvSpPr>
          <p:cNvPr id="8" name="Shape 5"/>
          <p:cNvSpPr/>
          <p:nvPr/>
        </p:nvSpPr>
        <p:spPr>
          <a:xfrm>
            <a:off x="7772400" y="2651760"/>
            <a:ext cx="3931920" cy="1280160"/>
          </a:xfrm>
          <a:prstGeom prst="roundRect">
            <a:avLst>
              <a:gd name="adj" fmla="val 5714"/>
            </a:avLst>
          </a:prstGeom>
          <a:solidFill>
            <a:srgbClr val="FFFFFF"/>
          </a:solidFill>
          <a:ln w="25400">
            <a:solidFill>
              <a:srgbClr val="2E7D32"/>
            </a:solidFill>
            <a:prstDash val="solid"/>
          </a:ln>
        </p:spPr>
      </p:sp>
      <p:sp>
        <p:nvSpPr>
          <p:cNvPr id="9" name="Text 6"/>
          <p:cNvSpPr/>
          <p:nvPr/>
        </p:nvSpPr>
        <p:spPr>
          <a:xfrm>
            <a:off x="7772400" y="2743200"/>
            <a:ext cx="3931920" cy="704088"/>
          </a:xfrm>
          <a:prstGeom prst="rect">
            <a:avLst/>
          </a:prstGeom>
          <a:noFill/>
          <a:ln/>
        </p:spPr>
        <p:txBody>
          <a:bodyPr wrap="square" rtlCol="0" anchor="ctr"/>
          <a:lstStyle/>
          <a:p>
            <a:pPr marL="0" indent="0" algn="ctr">
              <a:buNone/>
            </a:pPr>
            <a:r>
              <a:rPr lang="en-US" sz="3000" b="1" dirty="0">
                <a:solidFill>
                  <a:srgbClr val="2E7D32"/>
                </a:solidFill>
                <a:latin typeface="Calibri" pitchFamily="34" charset="0"/>
                <a:ea typeface="Calibri" pitchFamily="34" charset="-122"/>
                <a:cs typeface="Calibri" pitchFamily="34" charset="-120"/>
              </a:rPr>
              <a:t>0,584±0,015</a:t>
            </a:r>
            <a:endParaRPr lang="en-US" sz="3000" dirty="0"/>
          </a:p>
        </p:txBody>
      </p:sp>
      <p:sp>
        <p:nvSpPr>
          <p:cNvPr id="10" name="Text 7"/>
          <p:cNvSpPr/>
          <p:nvPr/>
        </p:nvSpPr>
        <p:spPr>
          <a:xfrm>
            <a:off x="7863840" y="3394253"/>
            <a:ext cx="3749040" cy="512064"/>
          </a:xfrm>
          <a:prstGeom prst="rect">
            <a:avLst/>
          </a:prstGeom>
          <a:noFill/>
          <a:ln/>
        </p:spPr>
        <p:txBody>
          <a:bodyPr wrap="square" rtlCol="0" anchor="t"/>
          <a:lstStyle/>
          <a:p>
            <a:pPr marL="0" indent="0" algn="ctr">
              <a:buNone/>
            </a:pPr>
            <a:r>
              <a:rPr lang="en-US" sz="1000" dirty="0">
                <a:solidFill>
                  <a:srgbClr val="404040"/>
                </a:solidFill>
                <a:latin typeface="Calibri" pitchFamily="34" charset="0"/>
                <a:ea typeface="Calibri" pitchFamily="34" charset="-122"/>
                <a:cs typeface="Calibri" pitchFamily="34" charset="-120"/>
              </a:rPr>
              <a:t>F1 Macro CV 5-fold</a:t>
            </a:r>
            <a:endParaRPr lang="en-US" sz="1000" dirty="0"/>
          </a:p>
        </p:txBody>
      </p:sp>
      <p:sp>
        <p:nvSpPr>
          <p:cNvPr id="11" name="Shape 8"/>
          <p:cNvSpPr/>
          <p:nvPr/>
        </p:nvSpPr>
        <p:spPr>
          <a:xfrm>
            <a:off x="457200" y="4389120"/>
            <a:ext cx="11247120" cy="1828800"/>
          </a:xfrm>
          <a:prstGeom prst="roundRect">
            <a:avLst>
              <a:gd name="adj" fmla="val 3000"/>
            </a:avLst>
          </a:prstGeom>
          <a:solidFill>
            <a:srgbClr val="F2F2F2"/>
          </a:solidFill>
          <a:ln w="19050">
            <a:solidFill>
              <a:srgbClr val="821538"/>
            </a:solidFill>
            <a:prstDash val="solid"/>
          </a:ln>
        </p:spPr>
      </p:sp>
      <p:sp>
        <p:nvSpPr>
          <p:cNvPr id="12" name="Text 9"/>
          <p:cNvSpPr/>
          <p:nvPr/>
        </p:nvSpPr>
        <p:spPr>
          <a:xfrm>
            <a:off x="640080" y="4480560"/>
            <a:ext cx="10972800" cy="365760"/>
          </a:xfrm>
          <a:prstGeom prst="rect">
            <a:avLst/>
          </a:prstGeom>
          <a:noFill/>
          <a:ln/>
        </p:spPr>
        <p:txBody>
          <a:bodyPr wrap="square" rtlCol="0" anchor="ctr"/>
          <a:lstStyle/>
          <a:p>
            <a:pPr marL="0" indent="0">
              <a:buNone/>
            </a:pPr>
            <a:r>
              <a:rPr lang="en-US" sz="1600" b="1" dirty="0">
                <a:solidFill>
                  <a:srgbClr val="C62828"/>
                </a:solidFill>
                <a:latin typeface="Calibri" pitchFamily="34" charset="0"/>
                <a:ea typeface="Calibri" pitchFamily="34" charset="-122"/>
                <a:cs typeface="Calibri" pitchFamily="34" charset="-120"/>
              </a:rPr>
              <a:t>Diagnóstico: OVERFITTING SEVERO</a:t>
            </a:r>
            <a:endParaRPr lang="en-US" sz="1600" dirty="0"/>
          </a:p>
        </p:txBody>
      </p:sp>
      <p:sp>
        <p:nvSpPr>
          <p:cNvPr id="13" name="Text 10"/>
          <p:cNvSpPr/>
          <p:nvPr/>
        </p:nvSpPr>
        <p:spPr>
          <a:xfrm>
            <a:off x="640080" y="4846320"/>
            <a:ext cx="10972800" cy="1280160"/>
          </a:xfrm>
          <a:prstGeom prst="rect">
            <a:avLst/>
          </a:prstGeom>
          <a:noFill/>
          <a:ln/>
        </p:spPr>
        <p:txBody>
          <a:bodyPr wrap="square" rtlCol="0" anchor="t"/>
          <a:lstStyle/>
          <a:p>
            <a:pPr marL="0" indent="0">
              <a:buNone/>
            </a:pPr>
            <a:r>
              <a:rPr lang="en-US" sz="1200" dirty="0">
                <a:solidFill>
                  <a:srgbClr val="404040"/>
                </a:solidFill>
              </a:rPr>
              <a:t>F1 train ≈ 1,0 en todos los tamaños → el modelo memoriza el entrenamiento.
F1 validación ≈ 0,47 → generalización limitada.
La curva de validación confirma que max_depth ≥ 25 es la zona óptima; profundidades mayores no aportan mejora.
</a:t>
            </a:r>
            <a:r>
              <a:rPr lang="en-US" sz="1200" b="1" i="1" dirty="0">
                <a:solidFill>
                  <a:srgbClr val="821538"/>
                </a:solidFill>
              </a:rPr>
              <a:t>Recomendación: regularizar con max_depth ≤ 25 y min_samples_split ≥ 5.</a:t>
            </a:r>
            <a:endParaRPr lang="en-US" sz="1200" dirty="0"/>
          </a:p>
        </p:txBody>
      </p:sp>
      <p:sp>
        <p:nvSpPr>
          <p:cNvPr id="25" name="Slide Number Placeholder 0"/>
          <p:cNvSpPr>
            <a:spLocks noGrp="1"/>
          </p:cNvSpPr>
          <p:nvPr>
            <p:ph type="sldNum" sz="quarter" idx="4294967295"/>
          </p:nvPr>
        </p:nvSpPr>
        <p:spPr>
          <a:xfrm>
            <a:off x="8412480" y="653796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404040"/>
                </a:solidFill>
                <a:latin typeface="Calibri"/>
                <a:ea typeface="Calibri"/>
                <a:cs typeface="Calibri"/>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2011680"/>
            <a:ext cx="11274552" cy="731520"/>
          </a:xfrm>
          <a:prstGeom prst="rect">
            <a:avLst/>
          </a:prstGeom>
          <a:noFill/>
          <a:ln/>
        </p:spPr>
        <p:txBody>
          <a:bodyPr wrap="square" rtlCol="0" anchor="ctr"/>
          <a:lstStyle/>
          <a:p>
            <a:pPr marL="0" indent="0" algn="ctr">
              <a:buNone/>
            </a:pPr>
            <a:r>
              <a:rPr lang="en-US" sz="6000" b="1" dirty="0">
                <a:solidFill>
                  <a:srgbClr val="FFFFFF"/>
                </a:solidFill>
                <a:latin typeface="Calibri" pitchFamily="34" charset="0"/>
                <a:ea typeface="Calibri" pitchFamily="34" charset="-122"/>
                <a:cs typeface="Calibri" pitchFamily="34" charset="-120"/>
              </a:rPr>
              <a:t>BLOQUE 3</a:t>
            </a:r>
            <a:endParaRPr lang="en-US" sz="6000" dirty="0"/>
          </a:p>
        </p:txBody>
      </p:sp>
      <p:sp>
        <p:nvSpPr>
          <p:cNvPr id="3" name="Text 1"/>
          <p:cNvSpPr/>
          <p:nvPr/>
        </p:nvSpPr>
        <p:spPr>
          <a:xfrm>
            <a:off x="457200" y="2926080"/>
            <a:ext cx="11274552" cy="548640"/>
          </a:xfrm>
          <a:prstGeom prst="rect">
            <a:avLst/>
          </a:prstGeom>
          <a:noFill/>
          <a:ln/>
        </p:spPr>
        <p:txBody>
          <a:bodyPr wrap="square" rtlCol="0" anchor="ctr"/>
          <a:lstStyle/>
          <a:p>
            <a:pPr marL="0" indent="0" algn="ctr">
              <a:buNone/>
            </a:pPr>
            <a:r>
              <a:rPr lang="en-US" sz="2800" i="1" dirty="0">
                <a:solidFill>
                  <a:srgbClr val="FFFFFF"/>
                </a:solidFill>
                <a:latin typeface="Calibri" pitchFamily="34" charset="0"/>
                <a:ea typeface="Calibri" pitchFamily="34" charset="-122"/>
                <a:cs typeface="Calibri" pitchFamily="34" charset="-120"/>
              </a:rPr>
              <a:t>Robustez bajo Perturbaciones Simuladas</a:t>
            </a:r>
            <a:endParaRPr lang="en-US" sz="2800" dirty="0"/>
          </a:p>
        </p:txBody>
      </p:sp>
      <p:sp>
        <p:nvSpPr>
          <p:cNvPr id="4" name="Shape 2"/>
          <p:cNvSpPr/>
          <p:nvPr/>
        </p:nvSpPr>
        <p:spPr>
          <a:xfrm>
            <a:off x="4114800" y="4114800"/>
            <a:ext cx="3959352" cy="36576"/>
          </a:xfrm>
          <a:prstGeom prst="rect">
            <a:avLst/>
          </a:prstGeom>
          <a:solidFill>
            <a:srgbClr val="FFFFFF"/>
          </a:solidFill>
          <a:ln/>
        </p:spPr>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274320"/>
            <a:ext cx="10698480" cy="731520"/>
          </a:xfrm>
          <a:prstGeom prst="rect">
            <a:avLst/>
          </a:prstGeom>
          <a:noFill/>
          <a:ln/>
        </p:spPr>
        <p:txBody>
          <a:bodyPr wrap="square" rtlCol="0" anchor="ctr"/>
          <a:lstStyle/>
          <a:p>
            <a:pPr marL="0" indent="0">
              <a:buNone/>
            </a:pPr>
            <a:r>
              <a:rPr lang="en-US" sz="3000" b="1" dirty="0">
                <a:solidFill>
                  <a:srgbClr val="821538"/>
                </a:solidFill>
                <a:latin typeface="Calibri" pitchFamily="34" charset="0"/>
                <a:ea typeface="Calibri" pitchFamily="34" charset="-122"/>
                <a:cs typeface="Calibri" pitchFamily="34" charset="-120"/>
              </a:rPr>
              <a:t>Bloque 3 · Robustez (RSI)</a:t>
            </a:r>
            <a:endParaRPr lang="en-US" sz="3000" dirty="0"/>
          </a:p>
        </p:txBody>
      </p:sp>
      <p:sp>
        <p:nvSpPr>
          <p:cNvPr id="3" name="Shape 1"/>
          <p:cNvSpPr/>
          <p:nvPr/>
        </p:nvSpPr>
        <p:spPr>
          <a:xfrm>
            <a:off x="457200" y="960120"/>
            <a:ext cx="11247120" cy="0"/>
          </a:xfrm>
          <a:prstGeom prst="line">
            <a:avLst/>
          </a:prstGeom>
          <a:noFill/>
          <a:ln w="25400">
            <a:solidFill>
              <a:srgbClr val="821538"/>
            </a:solidFill>
            <a:prstDash val="solid"/>
          </a:ln>
        </p:spPr>
      </p:sp>
      <p:pic>
        <p:nvPicPr>
          <p:cNvPr id="4" name="Image 0" descr="/home/claude/parte8/image3.png"/>
          <p:cNvPicPr>
            <a:picLocks noChangeAspect="1"/>
          </p:cNvPicPr>
          <p:nvPr/>
        </p:nvPicPr>
        <p:blipFill>
          <a:blip r:embed="rId3"/>
          <a:stretch>
            <a:fillRect/>
          </a:stretch>
        </p:blipFill>
        <p:spPr>
          <a:xfrm>
            <a:off x="274320" y="1188720"/>
            <a:ext cx="7315200" cy="3840480"/>
          </a:xfrm>
          <a:prstGeom prst="rect">
            <a:avLst/>
          </a:prstGeom>
        </p:spPr>
      </p:pic>
      <p:sp>
        <p:nvSpPr>
          <p:cNvPr id="5" name="Text 2"/>
          <p:cNvSpPr/>
          <p:nvPr/>
        </p:nvSpPr>
        <p:spPr>
          <a:xfrm>
            <a:off x="7772400" y="1188720"/>
            <a:ext cx="3931920" cy="365760"/>
          </a:xfrm>
          <a:prstGeom prst="rect">
            <a:avLst/>
          </a:prstGeom>
          <a:noFill/>
          <a:ln/>
        </p:spPr>
        <p:txBody>
          <a:bodyPr wrap="square" rtlCol="0" anchor="ctr"/>
          <a:lstStyle/>
          <a:p>
            <a:pPr marL="0" indent="0">
              <a:buNone/>
            </a:pPr>
            <a:r>
              <a:rPr lang="en-US" sz="1600" b="1" dirty="0">
                <a:solidFill>
                  <a:srgbClr val="821538"/>
                </a:solidFill>
                <a:latin typeface="Calibri" pitchFamily="34" charset="0"/>
                <a:ea typeface="Calibri" pitchFamily="34" charset="-122"/>
                <a:cs typeface="Calibri" pitchFamily="34" charset="-120"/>
              </a:rPr>
              <a:t>Métricas RSI</a:t>
            </a:r>
            <a:endParaRPr lang="en-US" sz="1600" dirty="0"/>
          </a:p>
        </p:txBody>
      </p:sp>
      <p:sp>
        <p:nvSpPr>
          <p:cNvPr id="6" name="Shape 3"/>
          <p:cNvSpPr/>
          <p:nvPr/>
        </p:nvSpPr>
        <p:spPr>
          <a:xfrm>
            <a:off x="7772400" y="1645920"/>
            <a:ext cx="3931920" cy="1097280"/>
          </a:xfrm>
          <a:prstGeom prst="roundRect">
            <a:avLst>
              <a:gd name="adj" fmla="val 6667"/>
            </a:avLst>
          </a:prstGeom>
          <a:solidFill>
            <a:srgbClr val="FFFFFF"/>
          </a:solidFill>
          <a:ln w="25400">
            <a:solidFill>
              <a:srgbClr val="E65100"/>
            </a:solidFill>
            <a:prstDash val="solid"/>
          </a:ln>
        </p:spPr>
      </p:sp>
      <p:sp>
        <p:nvSpPr>
          <p:cNvPr id="7" name="Text 4"/>
          <p:cNvSpPr/>
          <p:nvPr/>
        </p:nvSpPr>
        <p:spPr>
          <a:xfrm>
            <a:off x="7772400" y="1737360"/>
            <a:ext cx="3931920" cy="603504"/>
          </a:xfrm>
          <a:prstGeom prst="rect">
            <a:avLst/>
          </a:prstGeom>
          <a:noFill/>
          <a:ln/>
        </p:spPr>
        <p:txBody>
          <a:bodyPr wrap="square" rtlCol="0" anchor="ctr"/>
          <a:lstStyle/>
          <a:p>
            <a:pPr marL="0" indent="0" algn="ctr">
              <a:buNone/>
            </a:pPr>
            <a:r>
              <a:rPr lang="en-US" sz="3000" b="1" dirty="0">
                <a:solidFill>
                  <a:srgbClr val="E65100"/>
                </a:solidFill>
                <a:latin typeface="Calibri" pitchFamily="34" charset="0"/>
                <a:ea typeface="Calibri" pitchFamily="34" charset="-122"/>
                <a:cs typeface="Calibri" pitchFamily="34" charset="-120"/>
              </a:rPr>
              <a:t>0,810</a:t>
            </a:r>
            <a:endParaRPr lang="en-US" sz="3000" dirty="0"/>
          </a:p>
        </p:txBody>
      </p:sp>
      <p:sp>
        <p:nvSpPr>
          <p:cNvPr id="8" name="Text 5"/>
          <p:cNvSpPr/>
          <p:nvPr/>
        </p:nvSpPr>
        <p:spPr>
          <a:xfrm>
            <a:off x="7863840" y="2282342"/>
            <a:ext cx="3749040" cy="438912"/>
          </a:xfrm>
          <a:prstGeom prst="rect">
            <a:avLst/>
          </a:prstGeom>
          <a:noFill/>
          <a:ln/>
        </p:spPr>
        <p:txBody>
          <a:bodyPr wrap="square" rtlCol="0" anchor="t"/>
          <a:lstStyle/>
          <a:p>
            <a:pPr marL="0" indent="0" algn="ctr">
              <a:buNone/>
            </a:pPr>
            <a:r>
              <a:rPr lang="en-US" sz="1000" dirty="0">
                <a:solidFill>
                  <a:srgbClr val="404040"/>
                </a:solidFill>
                <a:latin typeface="Calibri" pitchFamily="34" charset="0"/>
                <a:ea typeface="Calibri" pitchFamily="34" charset="-122"/>
                <a:cs typeface="Calibri" pitchFamily="34" charset="-120"/>
              </a:rPr>
              <a:t>RSI medio (todos)</a:t>
            </a:r>
            <a:endParaRPr lang="en-US" sz="1000" dirty="0"/>
          </a:p>
        </p:txBody>
      </p:sp>
      <p:sp>
        <p:nvSpPr>
          <p:cNvPr id="9" name="Shape 6"/>
          <p:cNvSpPr/>
          <p:nvPr/>
        </p:nvSpPr>
        <p:spPr>
          <a:xfrm>
            <a:off x="7772400" y="2880360"/>
            <a:ext cx="3931920" cy="1097280"/>
          </a:xfrm>
          <a:prstGeom prst="roundRect">
            <a:avLst>
              <a:gd name="adj" fmla="val 6667"/>
            </a:avLst>
          </a:prstGeom>
          <a:solidFill>
            <a:srgbClr val="FFFFFF"/>
          </a:solidFill>
          <a:ln w="25400">
            <a:solidFill>
              <a:srgbClr val="C62828"/>
            </a:solidFill>
            <a:prstDash val="solid"/>
          </a:ln>
        </p:spPr>
      </p:sp>
      <p:sp>
        <p:nvSpPr>
          <p:cNvPr id="10" name="Text 7"/>
          <p:cNvSpPr/>
          <p:nvPr/>
        </p:nvSpPr>
        <p:spPr>
          <a:xfrm>
            <a:off x="7772400" y="2971800"/>
            <a:ext cx="3931920" cy="603504"/>
          </a:xfrm>
          <a:prstGeom prst="rect">
            <a:avLst/>
          </a:prstGeom>
          <a:noFill/>
          <a:ln/>
        </p:spPr>
        <p:txBody>
          <a:bodyPr wrap="square" rtlCol="0" anchor="ctr"/>
          <a:lstStyle/>
          <a:p>
            <a:pPr marL="0" indent="0" algn="ctr">
              <a:buNone/>
            </a:pPr>
            <a:r>
              <a:rPr lang="en-US" sz="3000" b="1" dirty="0">
                <a:solidFill>
                  <a:srgbClr val="C62828"/>
                </a:solidFill>
                <a:latin typeface="Calibri" pitchFamily="34" charset="0"/>
                <a:ea typeface="Calibri" pitchFamily="34" charset="-122"/>
                <a:cs typeface="Calibri" pitchFamily="34" charset="-120"/>
              </a:rPr>
              <a:t>0,479</a:t>
            </a:r>
            <a:endParaRPr lang="en-US" sz="3000" dirty="0"/>
          </a:p>
        </p:txBody>
      </p:sp>
      <p:sp>
        <p:nvSpPr>
          <p:cNvPr id="11" name="Text 8"/>
          <p:cNvSpPr/>
          <p:nvPr/>
        </p:nvSpPr>
        <p:spPr>
          <a:xfrm>
            <a:off x="7863840" y="3516782"/>
            <a:ext cx="3749040" cy="438912"/>
          </a:xfrm>
          <a:prstGeom prst="rect">
            <a:avLst/>
          </a:prstGeom>
          <a:noFill/>
          <a:ln/>
        </p:spPr>
        <p:txBody>
          <a:bodyPr wrap="square" rtlCol="0" anchor="t"/>
          <a:lstStyle/>
          <a:p>
            <a:pPr marL="0" indent="0" algn="ctr">
              <a:buNone/>
            </a:pPr>
            <a:r>
              <a:rPr lang="en-US" sz="1000" dirty="0">
                <a:solidFill>
                  <a:srgbClr val="404040"/>
                </a:solidFill>
                <a:latin typeface="Calibri" pitchFamily="34" charset="0"/>
                <a:ea typeface="Calibri" pitchFamily="34" charset="-122"/>
                <a:cs typeface="Calibri" pitchFamily="34" charset="-120"/>
              </a:rPr>
              <a:t>RSI mínimo (compuesto)</a:t>
            </a:r>
            <a:endParaRPr lang="en-US" sz="1000" dirty="0"/>
          </a:p>
        </p:txBody>
      </p:sp>
      <p:sp>
        <p:nvSpPr>
          <p:cNvPr id="12" name="Shape 9"/>
          <p:cNvSpPr/>
          <p:nvPr/>
        </p:nvSpPr>
        <p:spPr>
          <a:xfrm>
            <a:off x="7772400" y="4114800"/>
            <a:ext cx="3931920" cy="1097280"/>
          </a:xfrm>
          <a:prstGeom prst="roundRect">
            <a:avLst>
              <a:gd name="adj" fmla="val 6667"/>
            </a:avLst>
          </a:prstGeom>
          <a:solidFill>
            <a:srgbClr val="FFFFFF"/>
          </a:solidFill>
          <a:ln w="25400">
            <a:solidFill>
              <a:srgbClr val="2E7D32"/>
            </a:solidFill>
            <a:prstDash val="solid"/>
          </a:ln>
        </p:spPr>
      </p:sp>
      <p:sp>
        <p:nvSpPr>
          <p:cNvPr id="13" name="Text 10"/>
          <p:cNvSpPr/>
          <p:nvPr/>
        </p:nvSpPr>
        <p:spPr>
          <a:xfrm>
            <a:off x="7772400" y="4206240"/>
            <a:ext cx="3931920" cy="603504"/>
          </a:xfrm>
          <a:prstGeom prst="rect">
            <a:avLst/>
          </a:prstGeom>
          <a:noFill/>
          <a:ln/>
        </p:spPr>
        <p:txBody>
          <a:bodyPr wrap="square" rtlCol="0" anchor="ctr"/>
          <a:lstStyle/>
          <a:p>
            <a:pPr marL="0" indent="0" algn="ctr">
              <a:buNone/>
            </a:pPr>
            <a:r>
              <a:rPr lang="en-US" sz="3000" b="1" dirty="0">
                <a:solidFill>
                  <a:srgbClr val="2E7D32"/>
                </a:solidFill>
                <a:latin typeface="Calibri" pitchFamily="34" charset="0"/>
                <a:ea typeface="Calibri" pitchFamily="34" charset="-122"/>
                <a:cs typeface="Calibri" pitchFamily="34" charset="-120"/>
              </a:rPr>
              <a:t>1,014</a:t>
            </a:r>
            <a:endParaRPr lang="en-US" sz="3000" dirty="0"/>
          </a:p>
        </p:txBody>
      </p:sp>
      <p:sp>
        <p:nvSpPr>
          <p:cNvPr id="14" name="Text 11"/>
          <p:cNvSpPr/>
          <p:nvPr/>
        </p:nvSpPr>
        <p:spPr>
          <a:xfrm>
            <a:off x="7863840" y="4751222"/>
            <a:ext cx="3749040" cy="438912"/>
          </a:xfrm>
          <a:prstGeom prst="rect">
            <a:avLst/>
          </a:prstGeom>
          <a:noFill/>
          <a:ln/>
        </p:spPr>
        <p:txBody>
          <a:bodyPr wrap="square" rtlCol="0" anchor="t"/>
          <a:lstStyle/>
          <a:p>
            <a:pPr marL="0" indent="0" algn="ctr">
              <a:buNone/>
            </a:pPr>
            <a:r>
              <a:rPr lang="en-US" sz="1000" dirty="0">
                <a:solidFill>
                  <a:srgbClr val="404040"/>
                </a:solidFill>
                <a:latin typeface="Calibri" pitchFamily="34" charset="0"/>
                <a:ea typeface="Calibri" pitchFamily="34" charset="-122"/>
                <a:cs typeface="Calibri" pitchFamily="34" charset="-120"/>
              </a:rPr>
              <a:t>RSI sinónimos (mejor)</a:t>
            </a:r>
            <a:endParaRPr lang="en-US" sz="1000" dirty="0"/>
          </a:p>
        </p:txBody>
      </p:sp>
      <p:sp>
        <p:nvSpPr>
          <p:cNvPr id="15" name="Shape 12"/>
          <p:cNvSpPr/>
          <p:nvPr/>
        </p:nvSpPr>
        <p:spPr>
          <a:xfrm>
            <a:off x="457200" y="5212080"/>
            <a:ext cx="11247120" cy="1005840"/>
          </a:xfrm>
          <a:prstGeom prst="roundRect">
            <a:avLst>
              <a:gd name="adj" fmla="val 5455"/>
            </a:avLst>
          </a:prstGeom>
          <a:solidFill>
            <a:srgbClr val="821538"/>
          </a:solidFill>
          <a:ln/>
        </p:spPr>
      </p:sp>
      <p:sp>
        <p:nvSpPr>
          <p:cNvPr id="16" name="Text 13"/>
          <p:cNvSpPr/>
          <p:nvPr/>
        </p:nvSpPr>
        <p:spPr>
          <a:xfrm>
            <a:off x="640080" y="5303520"/>
            <a:ext cx="10972800" cy="822960"/>
          </a:xfrm>
          <a:prstGeom prst="rect">
            <a:avLst/>
          </a:prstGeom>
          <a:noFill/>
          <a:ln/>
        </p:spPr>
        <p:txBody>
          <a:bodyPr wrap="square" rtlCol="0" anchor="ctr"/>
          <a:lstStyle/>
          <a:p>
            <a:pPr marL="0" indent="0">
              <a:buNone/>
            </a:pPr>
            <a:r>
              <a:rPr lang="en-US" sz="1200" b="1" dirty="0">
                <a:solidFill>
                  <a:srgbClr val="FFFFFF"/>
                </a:solidFill>
              </a:rPr>
              <a:t>Resiliencia ante perturbaciones leves (RSI ≥ 0,97)</a:t>
            </a:r>
            <a:r>
              <a:rPr lang="en-US" sz="1200" dirty="0">
                <a:solidFill>
                  <a:srgbClr val="FFFFFF"/>
                </a:solidFill>
              </a:rPr>
              <a:t> pero fragilidad crítica ante ruido moderado (σ ≥ 0,1) y ante </a:t>
            </a:r>
            <a:r>
              <a:rPr lang="en-US" sz="1200" b="1" dirty="0">
                <a:solidFill>
                  <a:srgbClr val="FFFFFF"/>
                </a:solidFill>
              </a:rPr>
              <a:t>perturbaciones compuestas (RSI = 0,479)</a:t>
            </a:r>
            <a:r>
              <a:rPr lang="en-US" sz="1200" i="1" dirty="0">
                <a:solidFill>
                  <a:srgbClr val="FFFFFF"/>
                </a:solidFill>
              </a:rPr>
              <a:t>. La interacción es multiplicativa, no aditiva.</a:t>
            </a:r>
            <a:endParaRPr lang="en-US" sz="1200" dirty="0"/>
          </a:p>
        </p:txBody>
      </p:sp>
      <p:sp>
        <p:nvSpPr>
          <p:cNvPr id="25" name="Slide Number Placeholder 0"/>
          <p:cNvSpPr>
            <a:spLocks noGrp="1"/>
          </p:cNvSpPr>
          <p:nvPr>
            <p:ph type="sldNum" sz="quarter" idx="4294967295"/>
          </p:nvPr>
        </p:nvSpPr>
        <p:spPr>
          <a:xfrm>
            <a:off x="8412480" y="653796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404040"/>
                </a:solidFill>
                <a:latin typeface="Calibri"/>
                <a:ea typeface="Calibri"/>
                <a:cs typeface="Calibri"/>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2011680"/>
            <a:ext cx="11274552" cy="731520"/>
          </a:xfrm>
          <a:prstGeom prst="rect">
            <a:avLst/>
          </a:prstGeom>
          <a:noFill/>
          <a:ln/>
        </p:spPr>
        <p:txBody>
          <a:bodyPr wrap="square" rtlCol="0" anchor="ctr"/>
          <a:lstStyle/>
          <a:p>
            <a:pPr marL="0" indent="0" algn="ctr">
              <a:buNone/>
            </a:pPr>
            <a:r>
              <a:rPr lang="en-US" sz="6000" b="1" dirty="0">
                <a:solidFill>
                  <a:srgbClr val="FFFFFF"/>
                </a:solidFill>
                <a:latin typeface="Calibri" pitchFamily="34" charset="0"/>
                <a:ea typeface="Calibri" pitchFamily="34" charset="-122"/>
                <a:cs typeface="Calibri" pitchFamily="34" charset="-120"/>
              </a:rPr>
              <a:t>BLOQUE 4</a:t>
            </a:r>
            <a:endParaRPr lang="en-US" sz="6000" dirty="0"/>
          </a:p>
        </p:txBody>
      </p:sp>
      <p:sp>
        <p:nvSpPr>
          <p:cNvPr id="3" name="Text 1"/>
          <p:cNvSpPr/>
          <p:nvPr/>
        </p:nvSpPr>
        <p:spPr>
          <a:xfrm>
            <a:off x="457200" y="2926080"/>
            <a:ext cx="11274552" cy="548640"/>
          </a:xfrm>
          <a:prstGeom prst="rect">
            <a:avLst/>
          </a:prstGeom>
          <a:noFill/>
          <a:ln/>
        </p:spPr>
        <p:txBody>
          <a:bodyPr wrap="square" rtlCol="0" anchor="ctr"/>
          <a:lstStyle/>
          <a:p>
            <a:pPr marL="0" indent="0" algn="ctr">
              <a:buNone/>
            </a:pPr>
            <a:r>
              <a:rPr lang="en-US" sz="2800" i="1" dirty="0">
                <a:solidFill>
                  <a:srgbClr val="FFFFFF"/>
                </a:solidFill>
                <a:latin typeface="Calibri" pitchFamily="34" charset="0"/>
                <a:ea typeface="Calibri" pitchFamily="34" charset="-122"/>
                <a:cs typeface="Calibri" pitchFamily="34" charset="-120"/>
              </a:rPr>
              <a:t>Optimización de Hiperparámetros</a:t>
            </a:r>
            <a:endParaRPr lang="en-US" sz="2800" dirty="0"/>
          </a:p>
        </p:txBody>
      </p:sp>
      <p:sp>
        <p:nvSpPr>
          <p:cNvPr id="4" name="Text 2"/>
          <p:cNvSpPr/>
          <p:nvPr/>
        </p:nvSpPr>
        <p:spPr>
          <a:xfrm>
            <a:off x="457200" y="3566160"/>
            <a:ext cx="11274552" cy="457200"/>
          </a:xfrm>
          <a:prstGeom prst="rect">
            <a:avLst/>
          </a:prstGeom>
          <a:noFill/>
          <a:ln/>
        </p:spPr>
        <p:txBody>
          <a:bodyPr wrap="square" rtlCol="0" anchor="ctr"/>
          <a:lstStyle/>
          <a:p>
            <a:pPr marL="0" indent="0" algn="ctr">
              <a:buNone/>
            </a:pPr>
            <a:r>
              <a:rPr lang="en-US" sz="1800" dirty="0">
                <a:solidFill>
                  <a:srgbClr val="FFFFFF"/>
                </a:solidFill>
                <a:latin typeface="Calibri" pitchFamily="34" charset="0"/>
                <a:ea typeface="Calibri" pitchFamily="34" charset="-122"/>
                <a:cs typeface="Calibri" pitchFamily="34" charset="-120"/>
              </a:rPr>
              <a:t>PDP · Ranking · Interacciones · Configuración óptima</a:t>
            </a:r>
            <a:endParaRPr lang="en-US" sz="1800" dirty="0"/>
          </a:p>
        </p:txBody>
      </p:sp>
      <p:sp>
        <p:nvSpPr>
          <p:cNvPr id="5" name="Shape 3"/>
          <p:cNvSpPr/>
          <p:nvPr/>
        </p:nvSpPr>
        <p:spPr>
          <a:xfrm>
            <a:off x="4114800" y="4389120"/>
            <a:ext cx="3959352" cy="36576"/>
          </a:xfrm>
          <a:prstGeom prst="rect">
            <a:avLst/>
          </a:prstGeom>
          <a:solidFill>
            <a:srgbClr val="FFFFFF"/>
          </a:solidFill>
          <a:ln/>
        </p:spPr>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274320"/>
            <a:ext cx="10698480" cy="731520"/>
          </a:xfrm>
          <a:prstGeom prst="rect">
            <a:avLst/>
          </a:prstGeom>
          <a:noFill/>
          <a:ln/>
        </p:spPr>
        <p:txBody>
          <a:bodyPr wrap="square" rtlCol="0" anchor="ctr"/>
          <a:lstStyle/>
          <a:p>
            <a:pPr marL="0" indent="0">
              <a:buNone/>
            </a:pPr>
            <a:r>
              <a:rPr lang="en-US" sz="3000" b="1" dirty="0">
                <a:solidFill>
                  <a:srgbClr val="821538"/>
                </a:solidFill>
                <a:latin typeface="Calibri" pitchFamily="34" charset="0"/>
                <a:ea typeface="Calibri" pitchFamily="34" charset="-122"/>
                <a:cs typeface="Calibri" pitchFamily="34" charset="-120"/>
              </a:rPr>
              <a:t>Bloque 4 · Importancia de hiperparámetros</a:t>
            </a:r>
            <a:endParaRPr lang="en-US" sz="3000" dirty="0"/>
          </a:p>
        </p:txBody>
      </p:sp>
      <p:sp>
        <p:nvSpPr>
          <p:cNvPr id="3" name="Shape 1"/>
          <p:cNvSpPr/>
          <p:nvPr/>
        </p:nvSpPr>
        <p:spPr>
          <a:xfrm>
            <a:off x="457200" y="960120"/>
            <a:ext cx="11247120" cy="0"/>
          </a:xfrm>
          <a:prstGeom prst="line">
            <a:avLst/>
          </a:prstGeom>
          <a:noFill/>
          <a:ln w="25400">
            <a:solidFill>
              <a:srgbClr val="821538"/>
            </a:solidFill>
            <a:prstDash val="solid"/>
          </a:ln>
        </p:spPr>
      </p:sp>
      <p:pic>
        <p:nvPicPr>
          <p:cNvPr id="4" name="Image 0" descr="/home/claude/parte8/image4.png"/>
          <p:cNvPicPr>
            <a:picLocks noChangeAspect="1"/>
          </p:cNvPicPr>
          <p:nvPr/>
        </p:nvPicPr>
        <p:blipFill>
          <a:blip r:embed="rId3"/>
          <a:stretch>
            <a:fillRect/>
          </a:stretch>
        </p:blipFill>
        <p:spPr>
          <a:xfrm>
            <a:off x="274320" y="1188720"/>
            <a:ext cx="6858000" cy="3200400"/>
          </a:xfrm>
          <a:prstGeom prst="rect">
            <a:avLst/>
          </a:prstGeom>
        </p:spPr>
      </p:pic>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7315200" y="1188720"/>
          <a:ext cx="4572000" cy="914400"/>
        </p:xfrm>
        <a:graphic>
          <a:graphicData uri="http://schemas.openxmlformats.org/drawingml/2006/table">
            <a:tbl>
              <a:tblPr/>
              <a:tblGrid>
                <a:gridCol w="548640">
                  <a:extLst>
                    <a:ext uri="{9D8B030D-6E8A-4147-A177-3AD203B41FA5}">
                      <a16:colId xmlns:a16="http://schemas.microsoft.com/office/drawing/2014/main" val="20000"/>
                    </a:ext>
                  </a:extLst>
                </a:gridCol>
                <a:gridCol w="2286000">
                  <a:extLst>
                    <a:ext uri="{9D8B030D-6E8A-4147-A177-3AD203B41FA5}">
                      <a16:colId xmlns:a16="http://schemas.microsoft.com/office/drawing/2014/main" val="20001"/>
                    </a:ext>
                  </a:extLst>
                </a:gridCol>
                <a:gridCol w="1737360">
                  <a:extLst>
                    <a:ext uri="{9D8B030D-6E8A-4147-A177-3AD203B41FA5}">
                      <a16:colId xmlns:a16="http://schemas.microsoft.com/office/drawing/2014/main" val="20002"/>
                    </a:ext>
                  </a:extLst>
                </a:gridCol>
              </a:tblGrid>
              <a:tr h="411480">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821538"/>
                    </a:solidFill>
                  </a:tcPr>
                </a:tc>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HP</a:t>
                      </a:r>
                      <a:endParaRPr lang="en-US" sz="1100" dirty="0">
                        <a:latin typeface="Calibri" charset="0"/>
                        <a:ea typeface="Calibri" charset="0"/>
                        <a:cs typeface="Calibri" charset="0"/>
                      </a:endParaRPr>
                    </a:p>
                  </a:txBody>
                  <a:tcP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821538"/>
                    </a:solidFill>
                  </a:tcPr>
                </a:tc>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Criticidad</a:t>
                      </a:r>
                      <a:endParaRPr lang="en-US" sz="1100" dirty="0">
                        <a:latin typeface="Calibri" charset="0"/>
                        <a:ea typeface="Calibri" charset="0"/>
                        <a:cs typeface="Calibri" charset="0"/>
                      </a:endParaRPr>
                    </a:p>
                  </a:txBody>
                  <a:tcP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821538"/>
                    </a:solidFill>
                  </a:tcPr>
                </a:tc>
                <a:extLst>
                  <a:ext uri="{0D108BD9-81ED-4DB2-BD59-A6C34878D82A}">
                    <a16:rowId xmlns:a16="http://schemas.microsoft.com/office/drawing/2014/main" val="10000"/>
                  </a:ext>
                </a:extLst>
              </a:tr>
              <a:tr h="411480">
                <a:tc>
                  <a:txBody>
                    <a:bodyPr/>
                    <a:lstStyle/>
                    <a:p>
                      <a:pPr marL="0" indent="0" algn="ctr">
                        <a:buNone/>
                      </a:pPr>
                      <a:r>
                        <a:rPr lang="en-US" sz="1400" dirty="0">
                          <a:solidFill>
                            <a:srgbClr val="000000"/>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tcPr>
                </a:tc>
                <a:tc>
                  <a:txBody>
                    <a:bodyPr/>
                    <a:lstStyle/>
                    <a:p>
                      <a:pPr marL="0" indent="0">
                        <a:buNone/>
                      </a:pPr>
                      <a:r>
                        <a:rPr lang="en-US" sz="1200" b="1" dirty="0">
                          <a:solidFill>
                            <a:srgbClr val="821538"/>
                          </a:solidFill>
                          <a:latin typeface="Calibri" pitchFamily="34" charset="0"/>
                          <a:ea typeface="Calibri" pitchFamily="34" charset="-122"/>
                          <a:cs typeface="Calibri" pitchFamily="34" charset="-120"/>
                        </a:rPr>
                        <a:t>max_depth</a:t>
                      </a:r>
                      <a:endParaRPr lang="en-US" sz="1200" dirty="0">
                        <a:latin typeface="Calibri" charset="0"/>
                        <a:ea typeface="Calibri" charset="0"/>
                        <a:cs typeface="Calibri" charset="0"/>
                      </a:endParaRPr>
                    </a:p>
                  </a:txBody>
                  <a:tcP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tcPr>
                </a:tc>
                <a:tc>
                  <a:txBody>
                    <a:bodyPr/>
                    <a:lstStyle/>
                    <a:p>
                      <a:pPr marL="0" indent="0" algn="ctr">
                        <a:buNone/>
                      </a:pPr>
                      <a:r>
                        <a:rPr lang="en-US" sz="1300" b="1" dirty="0">
                          <a:solidFill>
                            <a:srgbClr val="C62828"/>
                          </a:solidFill>
                          <a:latin typeface="Calibri" pitchFamily="34" charset="0"/>
                          <a:ea typeface="Calibri" pitchFamily="34" charset="-122"/>
                          <a:cs typeface="Calibri" pitchFamily="34" charset="-120"/>
                        </a:rPr>
                        <a:t>1,000</a:t>
                      </a:r>
                      <a:endParaRPr lang="en-US" sz="1300" dirty="0">
                        <a:latin typeface="Calibri" charset="0"/>
                        <a:ea typeface="Calibri" charset="0"/>
                        <a:cs typeface="Calibri" charset="0"/>
                      </a:endParaRPr>
                    </a:p>
                  </a:txBody>
                  <a:tcP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tcPr>
                </a:tc>
                <a:extLst>
                  <a:ext uri="{0D108BD9-81ED-4DB2-BD59-A6C34878D82A}">
                    <a16:rowId xmlns:a16="http://schemas.microsoft.com/office/drawing/2014/main" val="10001"/>
                  </a:ext>
                </a:extLst>
              </a:tr>
              <a:tr h="411480">
                <a:tc>
                  <a:txBody>
                    <a:bodyPr/>
                    <a:lstStyle/>
                    <a:p>
                      <a:pPr marL="0" indent="0" algn="ctr">
                        <a:buNone/>
                      </a:pPr>
                      <a:r>
                        <a:rPr lang="en-US" sz="1400" dirty="0">
                          <a:solidFill>
                            <a:srgbClr val="000000"/>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tcPr>
                </a:tc>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min_samples_split</a:t>
                      </a:r>
                      <a:endParaRPr lang="en-US" sz="1200" dirty="0">
                        <a:latin typeface="Calibri" charset="0"/>
                        <a:ea typeface="Calibri" charset="0"/>
                        <a:cs typeface="Calibri" charset="0"/>
                      </a:endParaRPr>
                    </a:p>
                  </a:txBody>
                  <a:tcP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tcPr>
                </a:tc>
                <a:tc>
                  <a:txBody>
                    <a:bodyPr/>
                    <a:lstStyle/>
                    <a:p>
                      <a:pPr marL="0" indent="0" algn="ctr">
                        <a:buNone/>
                      </a:pPr>
                      <a:r>
                        <a:rPr lang="en-US" sz="1300" b="1" dirty="0">
                          <a:solidFill>
                            <a:srgbClr val="E65100"/>
                          </a:solidFill>
                          <a:latin typeface="Calibri" pitchFamily="34" charset="0"/>
                          <a:ea typeface="Calibri" pitchFamily="34" charset="-122"/>
                          <a:cs typeface="Calibri" pitchFamily="34" charset="-120"/>
                        </a:rPr>
                        <a:t>0,097</a:t>
                      </a:r>
                      <a:endParaRPr lang="en-US" sz="1300" dirty="0">
                        <a:latin typeface="Calibri" charset="0"/>
                        <a:ea typeface="Calibri" charset="0"/>
                        <a:cs typeface="Calibri" charset="0"/>
                      </a:endParaRPr>
                    </a:p>
                  </a:txBody>
                  <a:tcP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tcPr>
                </a:tc>
                <a:extLst>
                  <a:ext uri="{0D108BD9-81ED-4DB2-BD59-A6C34878D82A}">
                    <a16:rowId xmlns:a16="http://schemas.microsoft.com/office/drawing/2014/main" val="10002"/>
                  </a:ext>
                </a:extLst>
              </a:tr>
              <a:tr h="411480">
                <a:tc>
                  <a:txBody>
                    <a:bodyPr/>
                    <a:lstStyle/>
                    <a:p>
                      <a:pPr marL="0" indent="0" algn="ctr">
                        <a:buNone/>
                      </a:pPr>
                      <a:r>
                        <a:rPr lang="en-US" sz="1400" dirty="0">
                          <a:solidFill>
                            <a:srgbClr val="000000"/>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tcPr>
                </a:tc>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n_estimators</a:t>
                      </a:r>
                      <a:endParaRPr lang="en-US" sz="1200" dirty="0">
                        <a:latin typeface="Calibri" charset="0"/>
                        <a:ea typeface="Calibri" charset="0"/>
                        <a:cs typeface="Calibri" charset="0"/>
                      </a:endParaRPr>
                    </a:p>
                  </a:txBody>
                  <a:tcP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tcPr>
                </a:tc>
                <a:tc>
                  <a:txBody>
                    <a:bodyPr/>
                    <a:lstStyle/>
                    <a:p>
                      <a:pPr marL="0" indent="0" algn="ctr">
                        <a:buNone/>
                      </a:pPr>
                      <a:r>
                        <a:rPr lang="en-US" sz="1300" b="1" dirty="0">
                          <a:solidFill>
                            <a:srgbClr val="2E7D32"/>
                          </a:solidFill>
                          <a:latin typeface="Calibri" pitchFamily="34" charset="0"/>
                          <a:ea typeface="Calibri" pitchFamily="34" charset="-122"/>
                          <a:cs typeface="Calibri" pitchFamily="34" charset="-120"/>
                        </a:rPr>
                        <a:t>0,058</a:t>
                      </a:r>
                      <a:endParaRPr lang="en-US" sz="1300" dirty="0">
                        <a:latin typeface="Calibri" charset="0"/>
                        <a:ea typeface="Calibri" charset="0"/>
                        <a:cs typeface="Calibri" charset="0"/>
                      </a:endParaRPr>
                    </a:p>
                  </a:txBody>
                  <a:tcP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6" name="Shape 2"/>
          <p:cNvSpPr/>
          <p:nvPr/>
        </p:nvSpPr>
        <p:spPr>
          <a:xfrm>
            <a:off x="7315200" y="3017520"/>
            <a:ext cx="4572000" cy="1371600"/>
          </a:xfrm>
          <a:prstGeom prst="roundRect">
            <a:avLst>
              <a:gd name="adj" fmla="val 4000"/>
            </a:avLst>
          </a:prstGeom>
          <a:solidFill>
            <a:srgbClr val="F2F2F2"/>
          </a:solidFill>
          <a:ln w="19050">
            <a:solidFill>
              <a:srgbClr val="821538"/>
            </a:solidFill>
            <a:prstDash val="solid"/>
          </a:ln>
        </p:spPr>
      </p:sp>
      <p:sp>
        <p:nvSpPr>
          <p:cNvPr id="7" name="Text 3"/>
          <p:cNvSpPr/>
          <p:nvPr/>
        </p:nvSpPr>
        <p:spPr>
          <a:xfrm>
            <a:off x="7452360" y="3108960"/>
            <a:ext cx="4297680" cy="1234440"/>
          </a:xfrm>
          <a:prstGeom prst="rect">
            <a:avLst/>
          </a:prstGeom>
          <a:noFill/>
          <a:ln/>
        </p:spPr>
        <p:txBody>
          <a:bodyPr wrap="square" rtlCol="0" anchor="t"/>
          <a:lstStyle/>
          <a:p>
            <a:pPr marL="0" indent="0">
              <a:buNone/>
            </a:pPr>
            <a:r>
              <a:rPr lang="en-US" sz="1300" b="1" dirty="0">
                <a:solidFill>
                  <a:srgbClr val="821538"/>
                </a:solidFill>
              </a:rPr>
              <a:t>max_depth domina </a:t>
            </a:r>
            <a:r>
              <a:rPr lang="en-US" sz="1200" dirty="0">
                <a:solidFill>
                  <a:srgbClr val="404040"/>
                </a:solidFill>
              </a:rPr>
              <a:t>con criticidad 1,000 según los tres métodos (Rango PDP, F-stat ANOVA, Meta-RF).
</a:t>
            </a:r>
            <a:r>
              <a:rPr lang="en-US" sz="1100" i="1" dirty="0">
                <a:solidFill>
                  <a:srgbClr val="404040"/>
                </a:solidFill>
              </a:rPr>
              <a:t>Controlar la profundidad del árbol tiene el mayor efecto sobre la generalización.</a:t>
            </a:r>
            <a:endParaRPr lang="en-US" sz="1300" dirty="0"/>
          </a:p>
        </p:txBody>
      </p:sp>
      <p:sp>
        <p:nvSpPr>
          <p:cNvPr id="8" name="Shape 4"/>
          <p:cNvSpPr/>
          <p:nvPr/>
        </p:nvSpPr>
        <p:spPr>
          <a:xfrm>
            <a:off x="457200" y="4663440"/>
            <a:ext cx="11247120" cy="1554480"/>
          </a:xfrm>
          <a:prstGeom prst="roundRect">
            <a:avLst>
              <a:gd name="adj" fmla="val 3529"/>
            </a:avLst>
          </a:prstGeom>
          <a:solidFill>
            <a:srgbClr val="FFFFFF"/>
          </a:solidFill>
          <a:ln w="19050">
            <a:solidFill>
              <a:srgbClr val="821538"/>
            </a:solidFill>
            <a:prstDash val="solid"/>
          </a:ln>
        </p:spPr>
      </p:sp>
      <p:sp>
        <p:nvSpPr>
          <p:cNvPr id="9" name="Text 5"/>
          <p:cNvSpPr/>
          <p:nvPr/>
        </p:nvSpPr>
        <p:spPr>
          <a:xfrm>
            <a:off x="640080" y="4754880"/>
            <a:ext cx="10972800" cy="320040"/>
          </a:xfrm>
          <a:prstGeom prst="rect">
            <a:avLst/>
          </a:prstGeom>
          <a:noFill/>
          <a:ln/>
        </p:spPr>
        <p:txBody>
          <a:bodyPr wrap="square" rtlCol="0" anchor="ctr"/>
          <a:lstStyle/>
          <a:p>
            <a:pPr marL="0" indent="0">
              <a:buNone/>
            </a:pPr>
            <a:r>
              <a:rPr lang="en-US" sz="1400" b="1" dirty="0">
                <a:solidFill>
                  <a:srgbClr val="821538"/>
                </a:solidFill>
                <a:latin typeface="Calibri" pitchFamily="34" charset="0"/>
                <a:ea typeface="Calibri" pitchFamily="34" charset="-122"/>
                <a:cs typeface="Calibri" pitchFamily="34" charset="-120"/>
              </a:rPr>
              <a:t>PDP de cada hiperparámetro</a:t>
            </a:r>
            <a:endParaRPr lang="en-US" sz="1400" dirty="0"/>
          </a:p>
        </p:txBody>
      </p:sp>
      <p:pic>
        <p:nvPicPr>
          <p:cNvPr id="10" name="Image 1" descr="/home/claude/parte8/image5.png"/>
          <p:cNvPicPr>
            <a:picLocks noChangeAspect="1"/>
          </p:cNvPicPr>
          <p:nvPr/>
        </p:nvPicPr>
        <p:blipFill>
          <a:blip r:embed="rId4"/>
          <a:stretch>
            <a:fillRect/>
          </a:stretch>
        </p:blipFill>
        <p:spPr>
          <a:xfrm>
            <a:off x="640080" y="5074920"/>
            <a:ext cx="10789920" cy="1051560"/>
          </a:xfrm>
          <a:prstGeom prst="rect">
            <a:avLst/>
          </a:prstGeom>
        </p:spPr>
      </p:pic>
      <p:sp>
        <p:nvSpPr>
          <p:cNvPr id="25" name="Slide Number Placeholder 0"/>
          <p:cNvSpPr>
            <a:spLocks noGrp="1"/>
          </p:cNvSpPr>
          <p:nvPr>
            <p:ph type="sldNum" sz="quarter" idx="4294967295"/>
          </p:nvPr>
        </p:nvSpPr>
        <p:spPr>
          <a:xfrm>
            <a:off x="8412480" y="653796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404040"/>
                </a:solidFill>
                <a:latin typeface="Calibri"/>
                <a:ea typeface="Calibri"/>
                <a:cs typeface="Calibri"/>
              </a:defRPr>
            </a:lvl1pPr>
          </a:lstStyle>
          <a:p>
            <a:pPr algn="r"/>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274320"/>
            <a:ext cx="10698480" cy="731520"/>
          </a:xfrm>
          <a:prstGeom prst="rect">
            <a:avLst/>
          </a:prstGeom>
          <a:noFill/>
          <a:ln/>
        </p:spPr>
        <p:txBody>
          <a:bodyPr wrap="square" rtlCol="0" anchor="ctr"/>
          <a:lstStyle/>
          <a:p>
            <a:pPr marL="0" indent="0">
              <a:buNone/>
            </a:pPr>
            <a:r>
              <a:rPr lang="en-US" sz="3000" b="1" dirty="0">
                <a:solidFill>
                  <a:srgbClr val="821538"/>
                </a:solidFill>
                <a:latin typeface="Calibri" pitchFamily="34" charset="0"/>
                <a:ea typeface="Calibri" pitchFamily="34" charset="-122"/>
                <a:cs typeface="Calibri" pitchFamily="34" charset="-120"/>
              </a:rPr>
              <a:t>Bloque 4 · Mapas de interacción</a:t>
            </a:r>
            <a:endParaRPr lang="en-US" sz="3000" dirty="0"/>
          </a:p>
        </p:txBody>
      </p:sp>
      <p:sp>
        <p:nvSpPr>
          <p:cNvPr id="3" name="Shape 1"/>
          <p:cNvSpPr/>
          <p:nvPr/>
        </p:nvSpPr>
        <p:spPr>
          <a:xfrm>
            <a:off x="457200" y="960120"/>
            <a:ext cx="11247120" cy="0"/>
          </a:xfrm>
          <a:prstGeom prst="line">
            <a:avLst/>
          </a:prstGeom>
          <a:noFill/>
          <a:ln w="25400">
            <a:solidFill>
              <a:srgbClr val="821538"/>
            </a:solidFill>
            <a:prstDash val="solid"/>
          </a:ln>
        </p:spPr>
      </p:sp>
      <p:pic>
        <p:nvPicPr>
          <p:cNvPr id="4" name="Image 0" descr="/home/claude/parte8/image6.png"/>
          <p:cNvPicPr>
            <a:picLocks noChangeAspect="1"/>
          </p:cNvPicPr>
          <p:nvPr/>
        </p:nvPicPr>
        <p:blipFill>
          <a:blip r:embed="rId3"/>
          <a:stretch>
            <a:fillRect/>
          </a:stretch>
        </p:blipFill>
        <p:spPr>
          <a:xfrm>
            <a:off x="457200" y="1188720"/>
            <a:ext cx="11247120" cy="3200400"/>
          </a:xfrm>
          <a:prstGeom prst="rect">
            <a:avLst/>
          </a:prstGeom>
        </p:spPr>
      </p:pic>
      <p:sp>
        <p:nvSpPr>
          <p:cNvPr id="5" name="Shape 2"/>
          <p:cNvSpPr/>
          <p:nvPr/>
        </p:nvSpPr>
        <p:spPr>
          <a:xfrm>
            <a:off x="457200" y="4572000"/>
            <a:ext cx="5303520" cy="1645920"/>
          </a:xfrm>
          <a:prstGeom prst="roundRect">
            <a:avLst>
              <a:gd name="adj" fmla="val 3333"/>
            </a:avLst>
          </a:prstGeom>
          <a:solidFill>
            <a:srgbClr val="E8F5E9"/>
          </a:solidFill>
          <a:ln w="25400">
            <a:solidFill>
              <a:srgbClr val="2E7D32"/>
            </a:solidFill>
            <a:prstDash val="solid"/>
          </a:ln>
        </p:spPr>
      </p:sp>
      <p:sp>
        <p:nvSpPr>
          <p:cNvPr id="6" name="Text 3"/>
          <p:cNvSpPr/>
          <p:nvPr/>
        </p:nvSpPr>
        <p:spPr>
          <a:xfrm>
            <a:off x="640080" y="4663440"/>
            <a:ext cx="4937760" cy="274320"/>
          </a:xfrm>
          <a:prstGeom prst="rect">
            <a:avLst/>
          </a:prstGeom>
          <a:noFill/>
          <a:ln/>
        </p:spPr>
        <p:txBody>
          <a:bodyPr wrap="square" rtlCol="0" anchor="ctr"/>
          <a:lstStyle/>
          <a:p>
            <a:pPr marL="0" indent="0">
              <a:buNone/>
            </a:pPr>
            <a:r>
              <a:rPr lang="en-US" sz="1300" b="1" dirty="0">
                <a:solidFill>
                  <a:srgbClr val="2E7D32"/>
                </a:solidFill>
                <a:latin typeface="Calibri" pitchFamily="34" charset="0"/>
                <a:ea typeface="Calibri" pitchFamily="34" charset="-122"/>
                <a:cs typeface="Calibri" pitchFamily="34" charset="-120"/>
              </a:rPr>
              <a:t>✓ Región óptima</a:t>
            </a:r>
            <a:endParaRPr lang="en-US" sz="1300" dirty="0"/>
          </a:p>
        </p:txBody>
      </p:sp>
      <p:sp>
        <p:nvSpPr>
          <p:cNvPr id="7" name="Text 4"/>
          <p:cNvSpPr/>
          <p:nvPr/>
        </p:nvSpPr>
        <p:spPr>
          <a:xfrm>
            <a:off x="640080" y="4937760"/>
            <a:ext cx="4937760" cy="1188720"/>
          </a:xfrm>
          <a:prstGeom prst="rect">
            <a:avLst/>
          </a:prstGeom>
          <a:noFill/>
          <a:ln/>
        </p:spPr>
        <p:txBody>
          <a:bodyPr wrap="square" rtlCol="0" anchor="t"/>
          <a:lstStyle/>
          <a:p>
            <a:pPr marL="0" indent="0">
              <a:buNone/>
            </a:pPr>
            <a:r>
              <a:rPr lang="en-US" sz="1300" b="1" dirty="0">
                <a:solidFill>
                  <a:srgbClr val="821538"/>
                </a:solidFill>
              </a:rPr>
              <a:t>max_depth = 30 × min_samples_split = 10
</a:t>
            </a:r>
            <a:r>
              <a:rPr lang="en-US" sz="1200" dirty="0">
                <a:solidFill>
                  <a:srgbClr val="404040"/>
                </a:solidFill>
              </a:rPr>
              <a:t>F1 ≈ 0,483 – 0,486 (consistente)</a:t>
            </a:r>
            <a:endParaRPr lang="en-US" sz="1300" dirty="0"/>
          </a:p>
        </p:txBody>
      </p:sp>
      <p:sp>
        <p:nvSpPr>
          <p:cNvPr id="8" name="Shape 5"/>
          <p:cNvSpPr/>
          <p:nvPr/>
        </p:nvSpPr>
        <p:spPr>
          <a:xfrm>
            <a:off x="6126480" y="4572000"/>
            <a:ext cx="5577840" cy="1645920"/>
          </a:xfrm>
          <a:prstGeom prst="roundRect">
            <a:avLst>
              <a:gd name="adj" fmla="val 3333"/>
            </a:avLst>
          </a:prstGeom>
          <a:solidFill>
            <a:srgbClr val="FFEBEE"/>
          </a:solidFill>
          <a:ln w="25400">
            <a:solidFill>
              <a:srgbClr val="C62828"/>
            </a:solidFill>
            <a:prstDash val="solid"/>
          </a:ln>
        </p:spPr>
      </p:sp>
      <p:sp>
        <p:nvSpPr>
          <p:cNvPr id="9" name="Text 6"/>
          <p:cNvSpPr/>
          <p:nvPr/>
        </p:nvSpPr>
        <p:spPr>
          <a:xfrm>
            <a:off x="6309360" y="4663440"/>
            <a:ext cx="5212080" cy="274320"/>
          </a:xfrm>
          <a:prstGeom prst="rect">
            <a:avLst/>
          </a:prstGeom>
          <a:noFill/>
          <a:ln/>
        </p:spPr>
        <p:txBody>
          <a:bodyPr wrap="square" rtlCol="0" anchor="ctr"/>
          <a:lstStyle/>
          <a:p>
            <a:pPr marL="0" indent="0">
              <a:buNone/>
            </a:pPr>
            <a:r>
              <a:rPr lang="en-US" sz="1300" b="1" dirty="0">
                <a:solidFill>
                  <a:srgbClr val="C62828"/>
                </a:solidFill>
                <a:latin typeface="Calibri" pitchFamily="34" charset="0"/>
                <a:ea typeface="Calibri" pitchFamily="34" charset="-122"/>
                <a:cs typeface="Calibri" pitchFamily="34" charset="-120"/>
              </a:rPr>
              <a:t>✗ Zona a evitar</a:t>
            </a:r>
            <a:endParaRPr lang="en-US" sz="1300" dirty="0"/>
          </a:p>
        </p:txBody>
      </p:sp>
      <p:sp>
        <p:nvSpPr>
          <p:cNvPr id="10" name="Text 7"/>
          <p:cNvSpPr/>
          <p:nvPr/>
        </p:nvSpPr>
        <p:spPr>
          <a:xfrm>
            <a:off x="6309360" y="4937760"/>
            <a:ext cx="5212080" cy="1188720"/>
          </a:xfrm>
          <a:prstGeom prst="rect">
            <a:avLst/>
          </a:prstGeom>
          <a:noFill/>
          <a:ln/>
        </p:spPr>
        <p:txBody>
          <a:bodyPr wrap="square" rtlCol="0" anchor="t"/>
          <a:lstStyle/>
          <a:p>
            <a:pPr marL="0" indent="0">
              <a:buNone/>
            </a:pPr>
            <a:r>
              <a:rPr lang="en-US" sz="1300" b="1" dirty="0">
                <a:solidFill>
                  <a:srgbClr val="821538"/>
                </a:solidFill>
              </a:rPr>
              <a:t>max_depth bajo + n_estimators bajo
</a:t>
            </a:r>
            <a:r>
              <a:rPr lang="en-US" sz="1100" i="1" dirty="0">
                <a:solidFill>
                  <a:srgbClr val="404040"/>
                </a:solidFill>
              </a:rPr>
              <a:t>Aumentar n_estimators no compensa la pérdida de expresividad del modelo con max_depth restrictivo.</a:t>
            </a:r>
            <a:endParaRPr lang="en-US" sz="1300" dirty="0"/>
          </a:p>
        </p:txBody>
      </p:sp>
      <p:sp>
        <p:nvSpPr>
          <p:cNvPr id="25" name="Slide Number Placeholder 0"/>
          <p:cNvSpPr>
            <a:spLocks noGrp="1"/>
          </p:cNvSpPr>
          <p:nvPr>
            <p:ph type="sldNum" sz="quarter" idx="4294967295"/>
          </p:nvPr>
        </p:nvSpPr>
        <p:spPr>
          <a:xfrm>
            <a:off x="8412480" y="653796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404040"/>
                </a:solidFill>
                <a:latin typeface="Calibri"/>
                <a:ea typeface="Calibri"/>
                <a:cs typeface="Calibri"/>
              </a:defRPr>
            </a:lvl1pPr>
          </a:lstStyle>
          <a:p>
            <a:pPr algn="r"/>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274320"/>
            <a:ext cx="10698480" cy="731520"/>
          </a:xfrm>
          <a:prstGeom prst="rect">
            <a:avLst/>
          </a:prstGeom>
          <a:noFill/>
          <a:ln/>
        </p:spPr>
        <p:txBody>
          <a:bodyPr wrap="square" rtlCol="0" anchor="ctr"/>
          <a:lstStyle/>
          <a:p>
            <a:pPr marL="0" indent="0">
              <a:buNone/>
            </a:pPr>
            <a:r>
              <a:rPr lang="en-US" sz="3000" b="1" dirty="0">
                <a:solidFill>
                  <a:srgbClr val="821538"/>
                </a:solidFill>
                <a:latin typeface="Calibri" pitchFamily="34" charset="0"/>
                <a:ea typeface="Calibri" pitchFamily="34" charset="-122"/>
                <a:cs typeface="Calibri" pitchFamily="34" charset="-120"/>
              </a:rPr>
              <a:t>Bloque 4 · Configuración óptima</a:t>
            </a:r>
            <a:endParaRPr lang="en-US" sz="3000" dirty="0"/>
          </a:p>
        </p:txBody>
      </p:sp>
      <p:sp>
        <p:nvSpPr>
          <p:cNvPr id="3" name="Shape 1"/>
          <p:cNvSpPr/>
          <p:nvPr/>
        </p:nvSpPr>
        <p:spPr>
          <a:xfrm>
            <a:off x="457200" y="960120"/>
            <a:ext cx="11247120" cy="0"/>
          </a:xfrm>
          <a:prstGeom prst="line">
            <a:avLst/>
          </a:prstGeom>
          <a:noFill/>
          <a:ln w="25400">
            <a:solidFill>
              <a:srgbClr val="821538"/>
            </a:solidFill>
            <a:prstDash val="solid"/>
          </a:ln>
        </p:spPr>
      </p:sp>
      <p:sp>
        <p:nvSpPr>
          <p:cNvPr id="4" name="Shape 2"/>
          <p:cNvSpPr/>
          <p:nvPr/>
        </p:nvSpPr>
        <p:spPr>
          <a:xfrm>
            <a:off x="1371600" y="1188720"/>
            <a:ext cx="9418320" cy="1828800"/>
          </a:xfrm>
          <a:prstGeom prst="roundRect">
            <a:avLst>
              <a:gd name="adj" fmla="val 5000"/>
            </a:avLst>
          </a:prstGeom>
          <a:solidFill>
            <a:srgbClr val="821538"/>
          </a:solidFill>
          <a:ln/>
        </p:spPr>
      </p:sp>
      <p:sp>
        <p:nvSpPr>
          <p:cNvPr id="5" name="Text 3"/>
          <p:cNvSpPr/>
          <p:nvPr/>
        </p:nvSpPr>
        <p:spPr>
          <a:xfrm>
            <a:off x="1371600" y="1280160"/>
            <a:ext cx="9418320" cy="320040"/>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CONFIGURACIÓN ÓPTIMA (GridSearchCV)</a:t>
            </a:r>
            <a:endParaRPr lang="en-US" sz="1300" dirty="0"/>
          </a:p>
        </p:txBody>
      </p:sp>
      <p:sp>
        <p:nvSpPr>
          <p:cNvPr id="6" name="Shape 4"/>
          <p:cNvSpPr/>
          <p:nvPr/>
        </p:nvSpPr>
        <p:spPr>
          <a:xfrm>
            <a:off x="1645920" y="1691640"/>
            <a:ext cx="2743200" cy="1188720"/>
          </a:xfrm>
          <a:prstGeom prst="rect">
            <a:avLst/>
          </a:prstGeom>
          <a:solidFill>
            <a:srgbClr val="5C0D28"/>
          </a:solidFill>
          <a:ln/>
        </p:spPr>
      </p:sp>
      <p:sp>
        <p:nvSpPr>
          <p:cNvPr id="7" name="Text 5"/>
          <p:cNvSpPr/>
          <p:nvPr/>
        </p:nvSpPr>
        <p:spPr>
          <a:xfrm>
            <a:off x="1645920" y="1783080"/>
            <a:ext cx="2743200" cy="320040"/>
          </a:xfrm>
          <a:prstGeom prst="rect">
            <a:avLst/>
          </a:prstGeom>
          <a:noFill/>
          <a:ln/>
        </p:spPr>
        <p:txBody>
          <a:bodyPr wrap="square" rtlCol="0" anchor="ctr"/>
          <a:lstStyle/>
          <a:p>
            <a:pPr marL="0" indent="0" algn="ctr">
              <a:buNone/>
            </a:pPr>
            <a:r>
              <a:rPr lang="en-US" sz="1300" b="1" dirty="0">
                <a:solidFill>
                  <a:srgbClr val="FFFFFF"/>
                </a:solidFill>
                <a:latin typeface="Consolas" pitchFamily="34" charset="0"/>
                <a:ea typeface="Consolas" pitchFamily="34" charset="-122"/>
                <a:cs typeface="Consolas" pitchFamily="34" charset="-120"/>
              </a:rPr>
              <a:t>max_depth</a:t>
            </a:r>
            <a:endParaRPr lang="en-US" sz="1300" dirty="0"/>
          </a:p>
        </p:txBody>
      </p:sp>
      <p:sp>
        <p:nvSpPr>
          <p:cNvPr id="8" name="Text 6"/>
          <p:cNvSpPr/>
          <p:nvPr/>
        </p:nvSpPr>
        <p:spPr>
          <a:xfrm>
            <a:off x="1645920" y="2103120"/>
            <a:ext cx="2743200" cy="731520"/>
          </a:xfrm>
          <a:prstGeom prst="rect">
            <a:avLst/>
          </a:prstGeom>
          <a:noFill/>
          <a:ln/>
        </p:spPr>
        <p:txBody>
          <a:bodyPr wrap="square" rtlCol="0" anchor="ctr"/>
          <a:lstStyle/>
          <a:p>
            <a:pPr marL="0" indent="0" algn="ctr">
              <a:buNone/>
            </a:pPr>
            <a:r>
              <a:rPr lang="en-US" sz="4400" b="1" dirty="0">
                <a:solidFill>
                  <a:srgbClr val="FFFFFF"/>
                </a:solidFill>
                <a:latin typeface="Calibri" pitchFamily="34" charset="0"/>
                <a:ea typeface="Calibri" pitchFamily="34" charset="-122"/>
                <a:cs typeface="Calibri" pitchFamily="34" charset="-120"/>
              </a:rPr>
              <a:t>25</a:t>
            </a:r>
            <a:endParaRPr lang="en-US" sz="4400" dirty="0"/>
          </a:p>
        </p:txBody>
      </p:sp>
      <p:sp>
        <p:nvSpPr>
          <p:cNvPr id="9" name="Shape 7"/>
          <p:cNvSpPr/>
          <p:nvPr/>
        </p:nvSpPr>
        <p:spPr>
          <a:xfrm>
            <a:off x="4663440" y="1691640"/>
            <a:ext cx="2743200" cy="1188720"/>
          </a:xfrm>
          <a:prstGeom prst="rect">
            <a:avLst/>
          </a:prstGeom>
          <a:solidFill>
            <a:srgbClr val="5C0D28"/>
          </a:solidFill>
          <a:ln/>
        </p:spPr>
      </p:sp>
      <p:sp>
        <p:nvSpPr>
          <p:cNvPr id="10" name="Text 8"/>
          <p:cNvSpPr/>
          <p:nvPr/>
        </p:nvSpPr>
        <p:spPr>
          <a:xfrm>
            <a:off x="4663440" y="1783080"/>
            <a:ext cx="2743200" cy="320040"/>
          </a:xfrm>
          <a:prstGeom prst="rect">
            <a:avLst/>
          </a:prstGeom>
          <a:noFill/>
          <a:ln/>
        </p:spPr>
        <p:txBody>
          <a:bodyPr wrap="square" rtlCol="0" anchor="ctr"/>
          <a:lstStyle/>
          <a:p>
            <a:pPr marL="0" indent="0" algn="ctr">
              <a:buNone/>
            </a:pPr>
            <a:r>
              <a:rPr lang="en-US" sz="1300" b="1" dirty="0">
                <a:solidFill>
                  <a:srgbClr val="FFFFFF"/>
                </a:solidFill>
                <a:latin typeface="Consolas" pitchFamily="34" charset="0"/>
                <a:ea typeface="Consolas" pitchFamily="34" charset="-122"/>
                <a:cs typeface="Consolas" pitchFamily="34" charset="-120"/>
              </a:rPr>
              <a:t>min_samples_split</a:t>
            </a:r>
            <a:endParaRPr lang="en-US" sz="1300" dirty="0"/>
          </a:p>
        </p:txBody>
      </p:sp>
      <p:sp>
        <p:nvSpPr>
          <p:cNvPr id="11" name="Text 9"/>
          <p:cNvSpPr/>
          <p:nvPr/>
        </p:nvSpPr>
        <p:spPr>
          <a:xfrm>
            <a:off x="4663440" y="2103120"/>
            <a:ext cx="2743200" cy="731520"/>
          </a:xfrm>
          <a:prstGeom prst="rect">
            <a:avLst/>
          </a:prstGeom>
          <a:noFill/>
          <a:ln/>
        </p:spPr>
        <p:txBody>
          <a:bodyPr wrap="square" rtlCol="0" anchor="ctr"/>
          <a:lstStyle/>
          <a:p>
            <a:pPr marL="0" indent="0" algn="ctr">
              <a:buNone/>
            </a:pPr>
            <a:r>
              <a:rPr lang="en-US" sz="4400" b="1" dirty="0">
                <a:solidFill>
                  <a:srgbClr val="FFFFFF"/>
                </a:solidFill>
                <a:latin typeface="Calibri" pitchFamily="34" charset="0"/>
                <a:ea typeface="Calibri" pitchFamily="34" charset="-122"/>
                <a:cs typeface="Calibri" pitchFamily="34" charset="-120"/>
              </a:rPr>
              <a:t>3</a:t>
            </a:r>
            <a:endParaRPr lang="en-US" sz="4400" dirty="0"/>
          </a:p>
        </p:txBody>
      </p:sp>
      <p:sp>
        <p:nvSpPr>
          <p:cNvPr id="12" name="Shape 10"/>
          <p:cNvSpPr/>
          <p:nvPr/>
        </p:nvSpPr>
        <p:spPr>
          <a:xfrm>
            <a:off x="7680960" y="1691640"/>
            <a:ext cx="2743200" cy="1188720"/>
          </a:xfrm>
          <a:prstGeom prst="rect">
            <a:avLst/>
          </a:prstGeom>
          <a:solidFill>
            <a:srgbClr val="5C0D28"/>
          </a:solidFill>
          <a:ln/>
        </p:spPr>
      </p:sp>
      <p:sp>
        <p:nvSpPr>
          <p:cNvPr id="13" name="Text 11"/>
          <p:cNvSpPr/>
          <p:nvPr/>
        </p:nvSpPr>
        <p:spPr>
          <a:xfrm>
            <a:off x="7680960" y="1783080"/>
            <a:ext cx="2743200" cy="320040"/>
          </a:xfrm>
          <a:prstGeom prst="rect">
            <a:avLst/>
          </a:prstGeom>
          <a:noFill/>
          <a:ln/>
        </p:spPr>
        <p:txBody>
          <a:bodyPr wrap="square" rtlCol="0" anchor="ctr"/>
          <a:lstStyle/>
          <a:p>
            <a:pPr marL="0" indent="0" algn="ctr">
              <a:buNone/>
            </a:pPr>
            <a:r>
              <a:rPr lang="en-US" sz="1300" b="1" dirty="0">
                <a:solidFill>
                  <a:srgbClr val="FFFFFF"/>
                </a:solidFill>
                <a:latin typeface="Consolas" pitchFamily="34" charset="0"/>
                <a:ea typeface="Consolas" pitchFamily="34" charset="-122"/>
                <a:cs typeface="Consolas" pitchFamily="34" charset="-120"/>
              </a:rPr>
              <a:t>n_estimators</a:t>
            </a:r>
            <a:endParaRPr lang="en-US" sz="1300" dirty="0"/>
          </a:p>
        </p:txBody>
      </p:sp>
      <p:sp>
        <p:nvSpPr>
          <p:cNvPr id="14" name="Text 12"/>
          <p:cNvSpPr/>
          <p:nvPr/>
        </p:nvSpPr>
        <p:spPr>
          <a:xfrm>
            <a:off x="7680960" y="2103120"/>
            <a:ext cx="2743200" cy="731520"/>
          </a:xfrm>
          <a:prstGeom prst="rect">
            <a:avLst/>
          </a:prstGeom>
          <a:noFill/>
          <a:ln/>
        </p:spPr>
        <p:txBody>
          <a:bodyPr wrap="square" rtlCol="0" anchor="ctr"/>
          <a:lstStyle/>
          <a:p>
            <a:pPr marL="0" indent="0" algn="ctr">
              <a:buNone/>
            </a:pPr>
            <a:r>
              <a:rPr lang="en-US" sz="4400" b="1" dirty="0">
                <a:solidFill>
                  <a:srgbClr val="FFFFFF"/>
                </a:solidFill>
                <a:latin typeface="Calibri" pitchFamily="34" charset="0"/>
                <a:ea typeface="Calibri" pitchFamily="34" charset="-122"/>
                <a:cs typeface="Calibri" pitchFamily="34" charset="-120"/>
              </a:rPr>
              <a:t>382</a:t>
            </a:r>
            <a:endParaRPr lang="en-US" sz="4400" dirty="0"/>
          </a:p>
        </p:txBody>
      </p:sp>
      <p:sp>
        <p:nvSpPr>
          <p:cNvPr id="15" name="Text 13"/>
          <p:cNvSpPr/>
          <p:nvPr/>
        </p:nvSpPr>
        <p:spPr>
          <a:xfrm>
            <a:off x="457200" y="3291840"/>
            <a:ext cx="11247120" cy="548640"/>
          </a:xfrm>
          <a:prstGeom prst="rect">
            <a:avLst/>
          </a:prstGeom>
          <a:noFill/>
          <a:ln/>
        </p:spPr>
        <p:txBody>
          <a:bodyPr wrap="square" rtlCol="0" anchor="ctr"/>
          <a:lstStyle/>
          <a:p>
            <a:pPr marL="0" indent="0" algn="ctr">
              <a:buNone/>
            </a:pPr>
            <a:r>
              <a:rPr lang="en-US" sz="2200" dirty="0">
                <a:solidFill>
                  <a:srgbClr val="404040"/>
                </a:solidFill>
              </a:rPr>
              <a:t>F1 Macro: 0,445 → </a:t>
            </a:r>
            <a:r>
              <a:rPr lang="en-US" sz="3000" b="1" dirty="0">
                <a:solidFill>
                  <a:srgbClr val="2E7D32"/>
                </a:solidFill>
              </a:rPr>
              <a:t>0,467</a:t>
            </a:r>
            <a:r>
              <a:rPr lang="en-US" sz="1800" i="1" dirty="0">
                <a:solidFill>
                  <a:srgbClr val="404040"/>
                </a:solidFill>
              </a:rPr>
              <a:t>  (+2,22 pp)</a:t>
            </a:r>
            <a:endParaRPr lang="en-US" sz="2200" dirty="0"/>
          </a:p>
        </p:txBody>
      </p:sp>
      <p:sp>
        <p:nvSpPr>
          <p:cNvPr id="16" name="Text 14"/>
          <p:cNvSpPr/>
          <p:nvPr/>
        </p:nvSpPr>
        <p:spPr>
          <a:xfrm>
            <a:off x="457200" y="4114800"/>
            <a:ext cx="11247120" cy="365760"/>
          </a:xfrm>
          <a:prstGeom prst="rect">
            <a:avLst/>
          </a:prstGeom>
          <a:noFill/>
          <a:ln/>
        </p:spPr>
        <p:txBody>
          <a:bodyPr wrap="square" rtlCol="0" anchor="ctr"/>
          <a:lstStyle/>
          <a:p>
            <a:pPr marL="0" indent="0">
              <a:buNone/>
            </a:pPr>
            <a:r>
              <a:rPr lang="en-US" sz="1800" b="1" dirty="0">
                <a:solidFill>
                  <a:srgbClr val="821538"/>
                </a:solidFill>
                <a:latin typeface="Calibri" pitchFamily="34" charset="0"/>
                <a:ea typeface="Calibri" pitchFamily="34" charset="-122"/>
                <a:cs typeface="Calibri" pitchFamily="34" charset="-120"/>
              </a:rPr>
              <a:t>Recomendaciones de tuning</a:t>
            </a:r>
            <a:endParaRPr lang="en-US" sz="1800" dirty="0"/>
          </a:p>
        </p:txBody>
      </p:sp>
      <p:sp>
        <p:nvSpPr>
          <p:cNvPr id="17" name="Shape 15"/>
          <p:cNvSpPr/>
          <p:nvPr/>
        </p:nvSpPr>
        <p:spPr>
          <a:xfrm>
            <a:off x="457200" y="4572000"/>
            <a:ext cx="3611880" cy="1554480"/>
          </a:xfrm>
          <a:prstGeom prst="roundRect">
            <a:avLst>
              <a:gd name="adj" fmla="val 3529"/>
            </a:avLst>
          </a:prstGeom>
          <a:solidFill>
            <a:srgbClr val="F2F2F2"/>
          </a:solidFill>
          <a:ln w="19050">
            <a:solidFill>
              <a:srgbClr val="821538"/>
            </a:solidFill>
            <a:prstDash val="solid"/>
          </a:ln>
        </p:spPr>
      </p:sp>
      <p:sp>
        <p:nvSpPr>
          <p:cNvPr id="18" name="Text 16"/>
          <p:cNvSpPr/>
          <p:nvPr/>
        </p:nvSpPr>
        <p:spPr>
          <a:xfrm>
            <a:off x="594360" y="4663440"/>
            <a:ext cx="3337560" cy="365760"/>
          </a:xfrm>
          <a:prstGeom prst="rect">
            <a:avLst/>
          </a:prstGeom>
          <a:noFill/>
          <a:ln/>
        </p:spPr>
        <p:txBody>
          <a:bodyPr wrap="square" rtlCol="0" anchor="ctr"/>
          <a:lstStyle/>
          <a:p>
            <a:pPr marL="0" indent="0">
              <a:buNone/>
            </a:pPr>
            <a:r>
              <a:rPr lang="en-US" sz="1200" b="1" dirty="0">
                <a:solidFill>
                  <a:srgbClr val="821538"/>
                </a:solidFill>
                <a:latin typeface="Calibri" pitchFamily="34" charset="0"/>
                <a:ea typeface="Calibri" pitchFamily="34" charset="-122"/>
                <a:cs typeface="Calibri" pitchFamily="34" charset="-120"/>
              </a:rPr>
              <a:t>🎯 max_depth es la palanca</a:t>
            </a:r>
            <a:endParaRPr lang="en-US" sz="1200" dirty="0"/>
          </a:p>
        </p:txBody>
      </p:sp>
      <p:sp>
        <p:nvSpPr>
          <p:cNvPr id="19" name="Text 17"/>
          <p:cNvSpPr/>
          <p:nvPr/>
        </p:nvSpPr>
        <p:spPr>
          <a:xfrm>
            <a:off x="594360" y="5029200"/>
            <a:ext cx="3337560" cy="1051560"/>
          </a:xfrm>
          <a:prstGeom prst="rect">
            <a:avLst/>
          </a:prstGeom>
          <a:noFill/>
          <a:ln/>
        </p:spPr>
        <p:txBody>
          <a:bodyPr wrap="square" rtlCol="0" anchor="t"/>
          <a:lstStyle/>
          <a:p>
            <a:pPr marL="0" indent="0">
              <a:buNone/>
            </a:pPr>
            <a:r>
              <a:rPr lang="en-US" sz="1000" i="1" dirty="0">
                <a:solidFill>
                  <a:srgbClr val="404040"/>
                </a:solidFill>
                <a:latin typeface="Calibri" pitchFamily="34" charset="0"/>
                <a:ea typeface="Calibri" pitchFamily="34" charset="-122"/>
                <a:cs typeface="Calibri" pitchFamily="34" charset="-120"/>
              </a:rPr>
              <a:t>Concentrar exploración en [20-30]. Controla el overfitting detectado en Bloque 2.</a:t>
            </a:r>
            <a:endParaRPr lang="en-US" sz="1000" dirty="0"/>
          </a:p>
        </p:txBody>
      </p:sp>
      <p:sp>
        <p:nvSpPr>
          <p:cNvPr id="20" name="Shape 18"/>
          <p:cNvSpPr/>
          <p:nvPr/>
        </p:nvSpPr>
        <p:spPr>
          <a:xfrm>
            <a:off x="4251960" y="4572000"/>
            <a:ext cx="3611880" cy="1554480"/>
          </a:xfrm>
          <a:prstGeom prst="roundRect">
            <a:avLst>
              <a:gd name="adj" fmla="val 3529"/>
            </a:avLst>
          </a:prstGeom>
          <a:solidFill>
            <a:srgbClr val="F2F2F2"/>
          </a:solidFill>
          <a:ln w="19050">
            <a:solidFill>
              <a:srgbClr val="821538"/>
            </a:solidFill>
            <a:prstDash val="solid"/>
          </a:ln>
        </p:spPr>
      </p:sp>
      <p:sp>
        <p:nvSpPr>
          <p:cNvPr id="21" name="Text 19"/>
          <p:cNvSpPr/>
          <p:nvPr/>
        </p:nvSpPr>
        <p:spPr>
          <a:xfrm>
            <a:off x="4389120" y="4663440"/>
            <a:ext cx="3337560" cy="365760"/>
          </a:xfrm>
          <a:prstGeom prst="rect">
            <a:avLst/>
          </a:prstGeom>
          <a:noFill/>
          <a:ln/>
        </p:spPr>
        <p:txBody>
          <a:bodyPr wrap="square" rtlCol="0" anchor="ctr"/>
          <a:lstStyle/>
          <a:p>
            <a:pPr marL="0" indent="0">
              <a:buNone/>
            </a:pPr>
            <a:r>
              <a:rPr lang="en-US" sz="1200" b="1" dirty="0">
                <a:solidFill>
                  <a:srgbClr val="821538"/>
                </a:solidFill>
                <a:latin typeface="Calibri" pitchFamily="34" charset="0"/>
                <a:ea typeface="Calibri" pitchFamily="34" charset="-122"/>
                <a:cs typeface="Calibri" pitchFamily="34" charset="-120"/>
              </a:rPr>
              <a:t>⚡ n_estimators apenas influye</a:t>
            </a:r>
            <a:endParaRPr lang="en-US" sz="1200" dirty="0"/>
          </a:p>
        </p:txBody>
      </p:sp>
      <p:sp>
        <p:nvSpPr>
          <p:cNvPr id="22" name="Text 20"/>
          <p:cNvSpPr/>
          <p:nvPr/>
        </p:nvSpPr>
        <p:spPr>
          <a:xfrm>
            <a:off x="4389120" y="5029200"/>
            <a:ext cx="3337560" cy="1051560"/>
          </a:xfrm>
          <a:prstGeom prst="rect">
            <a:avLst/>
          </a:prstGeom>
          <a:noFill/>
          <a:ln/>
        </p:spPr>
        <p:txBody>
          <a:bodyPr wrap="square" rtlCol="0" anchor="t"/>
          <a:lstStyle/>
          <a:p>
            <a:pPr marL="0" indent="0">
              <a:buNone/>
            </a:pPr>
            <a:r>
              <a:rPr lang="en-US" sz="1000" i="1" dirty="0">
                <a:solidFill>
                  <a:srgbClr val="404040"/>
                </a:solidFill>
                <a:latin typeface="Calibri" pitchFamily="34" charset="0"/>
                <a:ea typeface="Calibri" pitchFamily="34" charset="-122"/>
                <a:cs typeface="Calibri" pitchFamily="34" charset="-120"/>
              </a:rPr>
              <a:t>Valores bajos (~100) son suficientes. Reducir espacio de búsqueda.</a:t>
            </a:r>
            <a:endParaRPr lang="en-US" sz="1000" dirty="0"/>
          </a:p>
        </p:txBody>
      </p:sp>
      <p:sp>
        <p:nvSpPr>
          <p:cNvPr id="23" name="Shape 21"/>
          <p:cNvSpPr/>
          <p:nvPr/>
        </p:nvSpPr>
        <p:spPr>
          <a:xfrm>
            <a:off x="8046720" y="4572000"/>
            <a:ext cx="3611880" cy="1554480"/>
          </a:xfrm>
          <a:prstGeom prst="roundRect">
            <a:avLst>
              <a:gd name="adj" fmla="val 3529"/>
            </a:avLst>
          </a:prstGeom>
          <a:solidFill>
            <a:srgbClr val="F2F2F2"/>
          </a:solidFill>
          <a:ln w="19050">
            <a:solidFill>
              <a:srgbClr val="821538"/>
            </a:solidFill>
            <a:prstDash val="solid"/>
          </a:ln>
        </p:spPr>
      </p:sp>
      <p:sp>
        <p:nvSpPr>
          <p:cNvPr id="24" name="Text 22"/>
          <p:cNvSpPr/>
          <p:nvPr/>
        </p:nvSpPr>
        <p:spPr>
          <a:xfrm>
            <a:off x="8183880" y="4663440"/>
            <a:ext cx="3337560" cy="365760"/>
          </a:xfrm>
          <a:prstGeom prst="rect">
            <a:avLst/>
          </a:prstGeom>
          <a:noFill/>
          <a:ln/>
        </p:spPr>
        <p:txBody>
          <a:bodyPr wrap="square" rtlCol="0" anchor="ctr"/>
          <a:lstStyle/>
          <a:p>
            <a:pPr marL="0" indent="0">
              <a:buNone/>
            </a:pPr>
            <a:r>
              <a:rPr lang="en-US" sz="1200" b="1" dirty="0">
                <a:solidFill>
                  <a:srgbClr val="821538"/>
                </a:solidFill>
                <a:latin typeface="Calibri" pitchFamily="34" charset="0"/>
                <a:ea typeface="Calibri" pitchFamily="34" charset="-122"/>
                <a:cs typeface="Calibri" pitchFamily="34" charset="-120"/>
              </a:rPr>
              <a:t>🔄 Mejora limitada por pipeline</a:t>
            </a:r>
            <a:endParaRPr lang="en-US" sz="1200" dirty="0"/>
          </a:p>
        </p:txBody>
      </p:sp>
      <p:sp>
        <p:nvSpPr>
          <p:cNvPr id="25" name="Text 23"/>
          <p:cNvSpPr/>
          <p:nvPr/>
        </p:nvSpPr>
        <p:spPr>
          <a:xfrm>
            <a:off x="8183880" y="5029200"/>
            <a:ext cx="3337560" cy="1051560"/>
          </a:xfrm>
          <a:prstGeom prst="rect">
            <a:avLst/>
          </a:prstGeom>
          <a:noFill/>
          <a:ln/>
        </p:spPr>
        <p:txBody>
          <a:bodyPr wrap="square" rtlCol="0" anchor="t"/>
          <a:lstStyle/>
          <a:p>
            <a:pPr marL="0" indent="0">
              <a:buNone/>
            </a:pPr>
            <a:r>
              <a:rPr lang="en-US" sz="1000" i="1" dirty="0">
                <a:solidFill>
                  <a:srgbClr val="404040"/>
                </a:solidFill>
                <a:latin typeface="Calibri" pitchFamily="34" charset="0"/>
                <a:ea typeface="Calibri" pitchFamily="34" charset="-122"/>
                <a:cs typeface="Calibri" pitchFamily="34" charset="-120"/>
              </a:rPr>
              <a:t>La ganancia de +2,22 pp indica techo. Migrar a embeddings preentrenados (BERT).</a:t>
            </a:r>
            <a:endParaRPr lang="en-US" sz="1000" dirty="0"/>
          </a:p>
        </p:txBody>
      </p:sp>
      <p:sp>
        <p:nvSpPr>
          <p:cNvPr id="26" name="Slide Number Placeholder 0"/>
          <p:cNvSpPr>
            <a:spLocks noGrp="1"/>
          </p:cNvSpPr>
          <p:nvPr>
            <p:ph type="sldNum" sz="quarter" idx="4294967295"/>
          </p:nvPr>
        </p:nvSpPr>
        <p:spPr>
          <a:xfrm>
            <a:off x="8412480" y="653796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404040"/>
                </a:solidFill>
                <a:latin typeface="Calibri"/>
                <a:ea typeface="Calibri"/>
                <a:cs typeface="Calibri"/>
              </a:defRPr>
            </a:lvl1pPr>
          </a:lstStyle>
          <a:p>
            <a:pPr algn="r"/>
            <a:fld id="{F7021451-1387-4CA6-816F-3879F97B5CBC}" type="slidenum">
              <a:rPr lang="en-US" b="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274320"/>
            <a:ext cx="10698480" cy="731520"/>
          </a:xfrm>
          <a:prstGeom prst="rect">
            <a:avLst/>
          </a:prstGeom>
          <a:noFill/>
          <a:ln/>
        </p:spPr>
        <p:txBody>
          <a:bodyPr wrap="square" rtlCol="0" anchor="ctr"/>
          <a:lstStyle/>
          <a:p>
            <a:pPr marL="0" indent="0">
              <a:buNone/>
            </a:pPr>
            <a:r>
              <a:rPr lang="en-US" sz="3000" b="1" dirty="0">
                <a:solidFill>
                  <a:srgbClr val="821538"/>
                </a:solidFill>
                <a:latin typeface="Calibri" pitchFamily="34" charset="0"/>
                <a:ea typeface="Calibri" pitchFamily="34" charset="-122"/>
                <a:cs typeface="Calibri" pitchFamily="34" charset="-120"/>
              </a:rPr>
              <a:t>Conclusiones · Hallazgos principales</a:t>
            </a:r>
            <a:endParaRPr lang="en-US" sz="3000" dirty="0"/>
          </a:p>
        </p:txBody>
      </p:sp>
      <p:sp>
        <p:nvSpPr>
          <p:cNvPr id="3" name="Shape 1"/>
          <p:cNvSpPr/>
          <p:nvPr/>
        </p:nvSpPr>
        <p:spPr>
          <a:xfrm>
            <a:off x="457200" y="960120"/>
            <a:ext cx="11247120" cy="0"/>
          </a:xfrm>
          <a:prstGeom prst="line">
            <a:avLst/>
          </a:prstGeom>
          <a:noFill/>
          <a:ln w="25400">
            <a:solidFill>
              <a:srgbClr val="821538"/>
            </a:solidFill>
            <a:prstDash val="solid"/>
          </a:ln>
        </p:spPr>
      </p:sp>
      <p:sp>
        <p:nvSpPr>
          <p:cNvPr id="4" name="Shape 2"/>
          <p:cNvSpPr/>
          <p:nvPr/>
        </p:nvSpPr>
        <p:spPr>
          <a:xfrm>
            <a:off x="457200" y="1188720"/>
            <a:ext cx="5532120" cy="2331720"/>
          </a:xfrm>
          <a:prstGeom prst="roundRect">
            <a:avLst>
              <a:gd name="adj" fmla="val 3137"/>
            </a:avLst>
          </a:prstGeom>
          <a:solidFill>
            <a:srgbClr val="FFFFFF"/>
          </a:solidFill>
          <a:ln w="25400">
            <a:solidFill>
              <a:srgbClr val="C62828"/>
            </a:solidFill>
            <a:prstDash val="solid"/>
          </a:ln>
        </p:spPr>
      </p:sp>
      <p:sp>
        <p:nvSpPr>
          <p:cNvPr id="5" name="Shape 3"/>
          <p:cNvSpPr/>
          <p:nvPr/>
        </p:nvSpPr>
        <p:spPr>
          <a:xfrm>
            <a:off x="640080" y="1371600"/>
            <a:ext cx="640080" cy="640080"/>
          </a:xfrm>
          <a:prstGeom prst="ellipse">
            <a:avLst/>
          </a:prstGeom>
          <a:solidFill>
            <a:srgbClr val="C62828"/>
          </a:solidFill>
          <a:ln/>
        </p:spPr>
      </p:sp>
      <p:sp>
        <p:nvSpPr>
          <p:cNvPr id="6" name="Text 4"/>
          <p:cNvSpPr/>
          <p:nvPr/>
        </p:nvSpPr>
        <p:spPr>
          <a:xfrm>
            <a:off x="640080" y="1371600"/>
            <a:ext cx="640080" cy="640080"/>
          </a:xfrm>
          <a:prstGeom prst="rect">
            <a:avLst/>
          </a:prstGeom>
          <a:noFill/>
          <a:ln/>
        </p:spPr>
        <p:txBody>
          <a:bodyPr wrap="square" rtlCol="0" anchor="ctr"/>
          <a:lstStyle/>
          <a:p>
            <a:pPr marL="0" indent="0" algn="ctr">
              <a:buNone/>
            </a:pPr>
            <a:r>
              <a:rPr lang="en-US" sz="2600" b="1" dirty="0">
                <a:solidFill>
                  <a:srgbClr val="FFFFFF"/>
                </a:solidFill>
                <a:latin typeface="Calibri" pitchFamily="34" charset="0"/>
                <a:ea typeface="Calibri" pitchFamily="34" charset="-122"/>
                <a:cs typeface="Calibri" pitchFamily="34" charset="-120"/>
              </a:rPr>
              <a:t>1</a:t>
            </a:r>
            <a:endParaRPr lang="en-US" sz="2600" dirty="0"/>
          </a:p>
        </p:txBody>
      </p:sp>
      <p:sp>
        <p:nvSpPr>
          <p:cNvPr id="7" name="Text 5"/>
          <p:cNvSpPr/>
          <p:nvPr/>
        </p:nvSpPr>
        <p:spPr>
          <a:xfrm>
            <a:off x="1371600" y="1417320"/>
            <a:ext cx="4480560" cy="548640"/>
          </a:xfrm>
          <a:prstGeom prst="rect">
            <a:avLst/>
          </a:prstGeom>
          <a:noFill/>
          <a:ln/>
        </p:spPr>
        <p:txBody>
          <a:bodyPr wrap="square" rtlCol="0" anchor="ctr"/>
          <a:lstStyle/>
          <a:p>
            <a:pPr marL="0" indent="0">
              <a:buNone/>
            </a:pPr>
            <a:r>
              <a:rPr lang="en-US" sz="1400" b="1" dirty="0">
                <a:solidFill>
                  <a:srgbClr val="C62828"/>
                </a:solidFill>
                <a:latin typeface="Calibri" pitchFamily="34" charset="0"/>
                <a:ea typeface="Calibri" pitchFamily="34" charset="-122"/>
                <a:cs typeface="Calibri" pitchFamily="34" charset="-120"/>
              </a:rPr>
              <a:t>Sesgo sistémico confirmado</a:t>
            </a:r>
            <a:endParaRPr lang="en-US" sz="1400" dirty="0"/>
          </a:p>
        </p:txBody>
      </p:sp>
      <p:sp>
        <p:nvSpPr>
          <p:cNvPr id="8" name="Text 6"/>
          <p:cNvSpPr/>
          <p:nvPr/>
        </p:nvSpPr>
        <p:spPr>
          <a:xfrm>
            <a:off x="685800" y="2103120"/>
            <a:ext cx="5074920" cy="1325880"/>
          </a:xfrm>
          <a:prstGeom prst="rect">
            <a:avLst/>
          </a:prstGeom>
          <a:noFill/>
          <a:ln/>
        </p:spPr>
        <p:txBody>
          <a:bodyPr wrap="square" rtlCol="0" anchor="t"/>
          <a:lstStyle/>
          <a:p>
            <a:pPr marL="0" indent="0">
              <a:buNone/>
            </a:pPr>
            <a:r>
              <a:rPr lang="en-US" sz="1100" dirty="0">
                <a:solidFill>
                  <a:srgbClr val="404040"/>
                </a:solidFill>
                <a:latin typeface="Calibri" pitchFamily="34" charset="0"/>
                <a:ea typeface="Calibri" pitchFamily="34" charset="-122"/>
                <a:cs typeface="Calibri" pitchFamily="34" charset="-120"/>
              </a:rPr>
              <a:t>Las tres variables proxy fallan la regla del 80%. Reweighting mejora parcialmente (DR 0,499→0,629) pero insuficiente.</a:t>
            </a:r>
            <a:endParaRPr lang="en-US" sz="1100" dirty="0"/>
          </a:p>
        </p:txBody>
      </p:sp>
      <p:sp>
        <p:nvSpPr>
          <p:cNvPr id="9" name="Shape 7"/>
          <p:cNvSpPr/>
          <p:nvPr/>
        </p:nvSpPr>
        <p:spPr>
          <a:xfrm>
            <a:off x="6172200" y="1188720"/>
            <a:ext cx="5532120" cy="2331720"/>
          </a:xfrm>
          <a:prstGeom prst="roundRect">
            <a:avLst>
              <a:gd name="adj" fmla="val 3137"/>
            </a:avLst>
          </a:prstGeom>
          <a:solidFill>
            <a:srgbClr val="FFFFFF"/>
          </a:solidFill>
          <a:ln w="25400">
            <a:solidFill>
              <a:srgbClr val="C62828"/>
            </a:solidFill>
            <a:prstDash val="solid"/>
          </a:ln>
        </p:spPr>
      </p:sp>
      <p:sp>
        <p:nvSpPr>
          <p:cNvPr id="10" name="Shape 8"/>
          <p:cNvSpPr/>
          <p:nvPr/>
        </p:nvSpPr>
        <p:spPr>
          <a:xfrm>
            <a:off x="6355080" y="1371600"/>
            <a:ext cx="640080" cy="640080"/>
          </a:xfrm>
          <a:prstGeom prst="ellipse">
            <a:avLst/>
          </a:prstGeom>
          <a:solidFill>
            <a:srgbClr val="C62828"/>
          </a:solidFill>
          <a:ln/>
        </p:spPr>
      </p:sp>
      <p:sp>
        <p:nvSpPr>
          <p:cNvPr id="11" name="Text 9"/>
          <p:cNvSpPr/>
          <p:nvPr/>
        </p:nvSpPr>
        <p:spPr>
          <a:xfrm>
            <a:off x="6355080" y="1371600"/>
            <a:ext cx="640080" cy="640080"/>
          </a:xfrm>
          <a:prstGeom prst="rect">
            <a:avLst/>
          </a:prstGeom>
          <a:noFill/>
          <a:ln/>
        </p:spPr>
        <p:txBody>
          <a:bodyPr wrap="square" rtlCol="0" anchor="ctr"/>
          <a:lstStyle/>
          <a:p>
            <a:pPr marL="0" indent="0" algn="ctr">
              <a:buNone/>
            </a:pPr>
            <a:r>
              <a:rPr lang="en-US" sz="2600" b="1" dirty="0">
                <a:solidFill>
                  <a:srgbClr val="FFFFFF"/>
                </a:solidFill>
                <a:latin typeface="Calibri" pitchFamily="34" charset="0"/>
                <a:ea typeface="Calibri" pitchFamily="34" charset="-122"/>
                <a:cs typeface="Calibri" pitchFamily="34" charset="-120"/>
              </a:rPr>
              <a:t>2</a:t>
            </a:r>
            <a:endParaRPr lang="en-US" sz="2600" dirty="0"/>
          </a:p>
        </p:txBody>
      </p:sp>
      <p:sp>
        <p:nvSpPr>
          <p:cNvPr id="12" name="Text 10"/>
          <p:cNvSpPr/>
          <p:nvPr/>
        </p:nvSpPr>
        <p:spPr>
          <a:xfrm>
            <a:off x="7086600" y="1417320"/>
            <a:ext cx="4480560" cy="548640"/>
          </a:xfrm>
          <a:prstGeom prst="rect">
            <a:avLst/>
          </a:prstGeom>
          <a:noFill/>
          <a:ln/>
        </p:spPr>
        <p:txBody>
          <a:bodyPr wrap="square" rtlCol="0" anchor="ctr"/>
          <a:lstStyle/>
          <a:p>
            <a:pPr marL="0" indent="0">
              <a:buNone/>
            </a:pPr>
            <a:r>
              <a:rPr lang="en-US" sz="1400" b="1" dirty="0">
                <a:solidFill>
                  <a:srgbClr val="C62828"/>
                </a:solidFill>
                <a:latin typeface="Calibri" pitchFamily="34" charset="0"/>
                <a:ea typeface="Calibri" pitchFamily="34" charset="-122"/>
                <a:cs typeface="Calibri" pitchFamily="34" charset="-120"/>
              </a:rPr>
              <a:t>Overfitting severo documentado</a:t>
            </a:r>
            <a:endParaRPr lang="en-US" sz="1400" dirty="0"/>
          </a:p>
        </p:txBody>
      </p:sp>
      <p:sp>
        <p:nvSpPr>
          <p:cNvPr id="13" name="Text 11"/>
          <p:cNvSpPr/>
          <p:nvPr/>
        </p:nvSpPr>
        <p:spPr>
          <a:xfrm>
            <a:off x="6400800" y="2103120"/>
            <a:ext cx="5074920" cy="1325880"/>
          </a:xfrm>
          <a:prstGeom prst="rect">
            <a:avLst/>
          </a:prstGeom>
          <a:noFill/>
          <a:ln/>
        </p:spPr>
        <p:txBody>
          <a:bodyPr wrap="square" rtlCol="0" anchor="t"/>
          <a:lstStyle/>
          <a:p>
            <a:pPr marL="0" indent="0">
              <a:buNone/>
            </a:pPr>
            <a:r>
              <a:rPr lang="en-US" sz="1100" dirty="0">
                <a:solidFill>
                  <a:srgbClr val="404040"/>
                </a:solidFill>
                <a:latin typeface="Calibri" pitchFamily="34" charset="0"/>
                <a:ea typeface="Calibri" pitchFamily="34" charset="-122"/>
                <a:cs typeface="Calibri" pitchFamily="34" charset="-120"/>
              </a:rPr>
              <a:t>Gap train-val = 0,388. El modelo memoriza el entrenamiento. CV 5-fold ofrece estimaciones más confiables (0,584±0,015).</a:t>
            </a:r>
            <a:endParaRPr lang="en-US" sz="1100" dirty="0"/>
          </a:p>
        </p:txBody>
      </p:sp>
      <p:sp>
        <p:nvSpPr>
          <p:cNvPr id="14" name="Shape 12"/>
          <p:cNvSpPr/>
          <p:nvPr/>
        </p:nvSpPr>
        <p:spPr>
          <a:xfrm>
            <a:off x="457200" y="3703320"/>
            <a:ext cx="5532120" cy="2331720"/>
          </a:xfrm>
          <a:prstGeom prst="roundRect">
            <a:avLst>
              <a:gd name="adj" fmla="val 3137"/>
            </a:avLst>
          </a:prstGeom>
          <a:solidFill>
            <a:srgbClr val="FFFFFF"/>
          </a:solidFill>
          <a:ln w="25400">
            <a:solidFill>
              <a:srgbClr val="E65100"/>
            </a:solidFill>
            <a:prstDash val="solid"/>
          </a:ln>
        </p:spPr>
      </p:sp>
      <p:sp>
        <p:nvSpPr>
          <p:cNvPr id="15" name="Shape 13"/>
          <p:cNvSpPr/>
          <p:nvPr/>
        </p:nvSpPr>
        <p:spPr>
          <a:xfrm>
            <a:off x="640080" y="3886200"/>
            <a:ext cx="640080" cy="640080"/>
          </a:xfrm>
          <a:prstGeom prst="ellipse">
            <a:avLst/>
          </a:prstGeom>
          <a:solidFill>
            <a:srgbClr val="E65100"/>
          </a:solidFill>
          <a:ln/>
        </p:spPr>
      </p:sp>
      <p:sp>
        <p:nvSpPr>
          <p:cNvPr id="16" name="Text 14"/>
          <p:cNvSpPr/>
          <p:nvPr/>
        </p:nvSpPr>
        <p:spPr>
          <a:xfrm>
            <a:off x="640080" y="3886200"/>
            <a:ext cx="640080" cy="640080"/>
          </a:xfrm>
          <a:prstGeom prst="rect">
            <a:avLst/>
          </a:prstGeom>
          <a:noFill/>
          <a:ln/>
        </p:spPr>
        <p:txBody>
          <a:bodyPr wrap="square" rtlCol="0" anchor="ctr"/>
          <a:lstStyle/>
          <a:p>
            <a:pPr marL="0" indent="0" algn="ctr">
              <a:buNone/>
            </a:pPr>
            <a:r>
              <a:rPr lang="en-US" sz="2600" b="1" dirty="0">
                <a:solidFill>
                  <a:srgbClr val="FFFFFF"/>
                </a:solidFill>
                <a:latin typeface="Calibri" pitchFamily="34" charset="0"/>
                <a:ea typeface="Calibri" pitchFamily="34" charset="-122"/>
                <a:cs typeface="Calibri" pitchFamily="34" charset="-120"/>
              </a:rPr>
              <a:t>3</a:t>
            </a:r>
            <a:endParaRPr lang="en-US" sz="2600" dirty="0"/>
          </a:p>
        </p:txBody>
      </p:sp>
      <p:sp>
        <p:nvSpPr>
          <p:cNvPr id="17" name="Text 15"/>
          <p:cNvSpPr/>
          <p:nvPr/>
        </p:nvSpPr>
        <p:spPr>
          <a:xfrm>
            <a:off x="1371600" y="3931920"/>
            <a:ext cx="4480560" cy="548640"/>
          </a:xfrm>
          <a:prstGeom prst="rect">
            <a:avLst/>
          </a:prstGeom>
          <a:noFill/>
          <a:ln/>
        </p:spPr>
        <p:txBody>
          <a:bodyPr wrap="square" rtlCol="0" anchor="ctr"/>
          <a:lstStyle/>
          <a:p>
            <a:pPr marL="0" indent="0">
              <a:buNone/>
            </a:pPr>
            <a:r>
              <a:rPr lang="en-US" sz="1400" b="1" dirty="0">
                <a:solidFill>
                  <a:srgbClr val="E65100"/>
                </a:solidFill>
                <a:latin typeface="Calibri" pitchFamily="34" charset="0"/>
                <a:ea typeface="Calibri" pitchFamily="34" charset="-122"/>
                <a:cs typeface="Calibri" pitchFamily="34" charset="-120"/>
              </a:rPr>
              <a:t>Robustez condicional</a:t>
            </a:r>
            <a:endParaRPr lang="en-US" sz="1400" dirty="0"/>
          </a:p>
        </p:txBody>
      </p:sp>
      <p:sp>
        <p:nvSpPr>
          <p:cNvPr id="18" name="Text 16"/>
          <p:cNvSpPr/>
          <p:nvPr/>
        </p:nvSpPr>
        <p:spPr>
          <a:xfrm>
            <a:off x="685800" y="4617720"/>
            <a:ext cx="5074920" cy="1325880"/>
          </a:xfrm>
          <a:prstGeom prst="rect">
            <a:avLst/>
          </a:prstGeom>
          <a:noFill/>
          <a:ln/>
        </p:spPr>
        <p:txBody>
          <a:bodyPr wrap="square" rtlCol="0" anchor="t"/>
          <a:lstStyle/>
          <a:p>
            <a:pPr marL="0" indent="0">
              <a:buNone/>
            </a:pPr>
            <a:r>
              <a:rPr lang="en-US" sz="1100" dirty="0">
                <a:solidFill>
                  <a:srgbClr val="404040"/>
                </a:solidFill>
                <a:latin typeface="Calibri" pitchFamily="34" charset="0"/>
                <a:ea typeface="Calibri" pitchFamily="34" charset="-122"/>
                <a:cs typeface="Calibri" pitchFamily="34" charset="-120"/>
              </a:rPr>
              <a:t>RSI ≥ 0,97 ante ruido leve y adversarial. Pero RSI = 0,479 en escenario compuesto. Interacción multiplicativa.</a:t>
            </a:r>
            <a:endParaRPr lang="en-US" sz="1100" dirty="0"/>
          </a:p>
        </p:txBody>
      </p:sp>
      <p:sp>
        <p:nvSpPr>
          <p:cNvPr id="19" name="Shape 17"/>
          <p:cNvSpPr/>
          <p:nvPr/>
        </p:nvSpPr>
        <p:spPr>
          <a:xfrm>
            <a:off x="6172200" y="3703320"/>
            <a:ext cx="5532120" cy="2331720"/>
          </a:xfrm>
          <a:prstGeom prst="roundRect">
            <a:avLst>
              <a:gd name="adj" fmla="val 3137"/>
            </a:avLst>
          </a:prstGeom>
          <a:solidFill>
            <a:srgbClr val="FFFFFF"/>
          </a:solidFill>
          <a:ln w="25400">
            <a:solidFill>
              <a:srgbClr val="2E7D32"/>
            </a:solidFill>
            <a:prstDash val="solid"/>
          </a:ln>
        </p:spPr>
      </p:sp>
      <p:sp>
        <p:nvSpPr>
          <p:cNvPr id="20" name="Shape 18"/>
          <p:cNvSpPr/>
          <p:nvPr/>
        </p:nvSpPr>
        <p:spPr>
          <a:xfrm>
            <a:off x="6355080" y="3886200"/>
            <a:ext cx="640080" cy="640080"/>
          </a:xfrm>
          <a:prstGeom prst="ellipse">
            <a:avLst/>
          </a:prstGeom>
          <a:solidFill>
            <a:srgbClr val="2E7D32"/>
          </a:solidFill>
          <a:ln/>
        </p:spPr>
      </p:sp>
      <p:sp>
        <p:nvSpPr>
          <p:cNvPr id="21" name="Text 19"/>
          <p:cNvSpPr/>
          <p:nvPr/>
        </p:nvSpPr>
        <p:spPr>
          <a:xfrm>
            <a:off x="6355080" y="3886200"/>
            <a:ext cx="640080" cy="640080"/>
          </a:xfrm>
          <a:prstGeom prst="rect">
            <a:avLst/>
          </a:prstGeom>
          <a:noFill/>
          <a:ln/>
        </p:spPr>
        <p:txBody>
          <a:bodyPr wrap="square" rtlCol="0" anchor="ctr"/>
          <a:lstStyle/>
          <a:p>
            <a:pPr marL="0" indent="0" algn="ctr">
              <a:buNone/>
            </a:pPr>
            <a:r>
              <a:rPr lang="en-US" sz="2600" b="1" dirty="0">
                <a:solidFill>
                  <a:srgbClr val="FFFFFF"/>
                </a:solidFill>
                <a:latin typeface="Calibri" pitchFamily="34" charset="0"/>
                <a:ea typeface="Calibri" pitchFamily="34" charset="-122"/>
                <a:cs typeface="Calibri" pitchFamily="34" charset="-120"/>
              </a:rPr>
              <a:t>4</a:t>
            </a:r>
            <a:endParaRPr lang="en-US" sz="2600" dirty="0"/>
          </a:p>
        </p:txBody>
      </p:sp>
      <p:sp>
        <p:nvSpPr>
          <p:cNvPr id="22" name="Text 20"/>
          <p:cNvSpPr/>
          <p:nvPr/>
        </p:nvSpPr>
        <p:spPr>
          <a:xfrm>
            <a:off x="7086600" y="3931920"/>
            <a:ext cx="4480560" cy="548640"/>
          </a:xfrm>
          <a:prstGeom prst="rect">
            <a:avLst/>
          </a:prstGeom>
          <a:noFill/>
          <a:ln/>
        </p:spPr>
        <p:txBody>
          <a:bodyPr wrap="square" rtlCol="0" anchor="ctr"/>
          <a:lstStyle/>
          <a:p>
            <a:pPr marL="0" indent="0">
              <a:buNone/>
            </a:pPr>
            <a:r>
              <a:rPr lang="en-US" sz="1400" b="1" dirty="0">
                <a:solidFill>
                  <a:srgbClr val="2E7D32"/>
                </a:solidFill>
                <a:latin typeface="Calibri" pitchFamily="34" charset="0"/>
                <a:ea typeface="Calibri" pitchFamily="34" charset="-122"/>
                <a:cs typeface="Calibri" pitchFamily="34" charset="-120"/>
              </a:rPr>
              <a:t>max_depth como palanca dominante</a:t>
            </a:r>
            <a:endParaRPr lang="en-US" sz="1400" dirty="0"/>
          </a:p>
        </p:txBody>
      </p:sp>
      <p:sp>
        <p:nvSpPr>
          <p:cNvPr id="23" name="Text 21"/>
          <p:cNvSpPr/>
          <p:nvPr/>
        </p:nvSpPr>
        <p:spPr>
          <a:xfrm>
            <a:off x="6400800" y="4617720"/>
            <a:ext cx="5074920" cy="1325880"/>
          </a:xfrm>
          <a:prstGeom prst="rect">
            <a:avLst/>
          </a:prstGeom>
          <a:noFill/>
          <a:ln/>
        </p:spPr>
        <p:txBody>
          <a:bodyPr wrap="square" rtlCol="0" anchor="t"/>
          <a:lstStyle/>
          <a:p>
            <a:pPr marL="0" indent="0">
              <a:buNone/>
            </a:pPr>
            <a:r>
              <a:rPr lang="en-US" sz="1100" dirty="0">
                <a:solidFill>
                  <a:srgbClr val="404040"/>
                </a:solidFill>
                <a:latin typeface="Calibri" pitchFamily="34" charset="0"/>
                <a:ea typeface="Calibri" pitchFamily="34" charset="-122"/>
                <a:cs typeface="Calibri" pitchFamily="34" charset="-120"/>
              </a:rPr>
              <a:t>Criticidad = 1,000. Su control regulariza y optimiza simultáneamente. Configuración óptima: max_depth=25, min_split=3, n_est=382.</a:t>
            </a:r>
            <a:endParaRPr lang="en-US" sz="1100" dirty="0"/>
          </a:p>
        </p:txBody>
      </p:sp>
      <p:sp>
        <p:nvSpPr>
          <p:cNvPr id="25" name="Slide Number Placeholder 0"/>
          <p:cNvSpPr>
            <a:spLocks noGrp="1"/>
          </p:cNvSpPr>
          <p:nvPr>
            <p:ph type="sldNum" sz="quarter" idx="4294967295"/>
          </p:nvPr>
        </p:nvSpPr>
        <p:spPr>
          <a:xfrm>
            <a:off x="8412480" y="653796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404040"/>
                </a:solidFill>
                <a:latin typeface="Calibri"/>
                <a:ea typeface="Calibri"/>
                <a:cs typeface="Calibri"/>
              </a:defRPr>
            </a:lvl1pPr>
          </a:lstStyle>
          <a:p>
            <a:pPr algn="r"/>
            <a:fld id="{F7021451-1387-4CA6-816F-3879F97B5CBC}" type="slidenum">
              <a:rPr lang="en-US" b="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821538"/>
        </a:solidFill>
        <a:effectLst/>
      </p:bgPr>
    </p:bg>
    <p:spTree>
      <p:nvGrpSpPr>
        <p:cNvPr id="1" name=""/>
        <p:cNvGrpSpPr/>
        <p:nvPr/>
      </p:nvGrpSpPr>
      <p:grpSpPr>
        <a:xfrm>
          <a:off x="0" y="0"/>
          <a:ext cx="0" cy="0"/>
          <a:chOff x="0" y="0"/>
          <a:chExt cx="0" cy="0"/>
        </a:xfrm>
      </p:grpSpPr>
      <p:sp>
        <p:nvSpPr>
          <p:cNvPr id="2" name="Shape 0"/>
          <p:cNvSpPr/>
          <p:nvPr/>
        </p:nvSpPr>
        <p:spPr>
          <a:xfrm flipH="1" flipV="1">
            <a:off x="0" y="0"/>
            <a:ext cx="2286000" cy="1828800"/>
          </a:xfrm>
          <a:prstGeom prst="triangle">
            <a:avLst/>
          </a:prstGeom>
          <a:solidFill>
            <a:srgbClr val="5C0D28"/>
          </a:solidFill>
          <a:ln/>
        </p:spPr>
      </p:sp>
      <p:sp>
        <p:nvSpPr>
          <p:cNvPr id="3" name="Shape 1"/>
          <p:cNvSpPr/>
          <p:nvPr/>
        </p:nvSpPr>
        <p:spPr>
          <a:xfrm>
            <a:off x="9875520" y="5029200"/>
            <a:ext cx="2313432" cy="1828800"/>
          </a:xfrm>
          <a:prstGeom prst="triangle">
            <a:avLst/>
          </a:prstGeom>
          <a:solidFill>
            <a:srgbClr val="5C0D28"/>
          </a:solidFill>
          <a:ln/>
        </p:spPr>
      </p:sp>
      <p:sp>
        <p:nvSpPr>
          <p:cNvPr id="4" name="Text 2"/>
          <p:cNvSpPr/>
          <p:nvPr/>
        </p:nvSpPr>
        <p:spPr>
          <a:xfrm>
            <a:off x="457200" y="1371600"/>
            <a:ext cx="11274552" cy="1188720"/>
          </a:xfrm>
          <a:prstGeom prst="rect">
            <a:avLst/>
          </a:prstGeom>
          <a:noFill/>
          <a:ln/>
        </p:spPr>
        <p:txBody>
          <a:bodyPr wrap="square" rtlCol="0" anchor="ctr"/>
          <a:lstStyle/>
          <a:p>
            <a:pPr marL="0" indent="0" algn="ctr">
              <a:buNone/>
            </a:pPr>
            <a:r>
              <a:rPr lang="en-US" sz="7200" b="1" dirty="0">
                <a:solidFill>
                  <a:srgbClr val="FFFFFF"/>
                </a:solidFill>
                <a:latin typeface="Calibri" pitchFamily="34" charset="0"/>
                <a:ea typeface="Calibri" pitchFamily="34" charset="-122"/>
                <a:cs typeface="Calibri" pitchFamily="34" charset="-120"/>
              </a:rPr>
              <a:t>¡Gracias!</a:t>
            </a:r>
            <a:endParaRPr lang="en-US" sz="7200" dirty="0"/>
          </a:p>
        </p:txBody>
      </p:sp>
      <p:sp>
        <p:nvSpPr>
          <p:cNvPr id="5" name="Text 3"/>
          <p:cNvSpPr/>
          <p:nvPr/>
        </p:nvSpPr>
        <p:spPr>
          <a:xfrm>
            <a:off x="457200" y="2651760"/>
            <a:ext cx="11274552" cy="548640"/>
          </a:xfrm>
          <a:prstGeom prst="rect">
            <a:avLst/>
          </a:prstGeom>
          <a:noFill/>
          <a:ln/>
        </p:spPr>
        <p:txBody>
          <a:bodyPr wrap="square" rtlCol="0" anchor="ctr"/>
          <a:lstStyle/>
          <a:p>
            <a:pPr marL="0" indent="0" algn="ctr">
              <a:buNone/>
            </a:pPr>
            <a:r>
              <a:rPr lang="en-US" sz="2600" i="1" dirty="0">
                <a:solidFill>
                  <a:srgbClr val="F2F2F2"/>
                </a:solidFill>
                <a:latin typeface="Calibri" pitchFamily="34" charset="0"/>
                <a:ea typeface="Calibri" pitchFamily="34" charset="-122"/>
                <a:cs typeface="Calibri" pitchFamily="34" charset="-120"/>
              </a:rPr>
              <a:t>Preguntas y discusión</a:t>
            </a:r>
            <a:endParaRPr lang="en-US" sz="2600" dirty="0"/>
          </a:p>
        </p:txBody>
      </p:sp>
      <p:sp>
        <p:nvSpPr>
          <p:cNvPr id="6" name="Shape 4"/>
          <p:cNvSpPr/>
          <p:nvPr/>
        </p:nvSpPr>
        <p:spPr>
          <a:xfrm>
            <a:off x="4270248" y="3474720"/>
            <a:ext cx="3657600" cy="36576"/>
          </a:xfrm>
          <a:prstGeom prst="rect">
            <a:avLst/>
          </a:prstGeom>
          <a:solidFill>
            <a:srgbClr val="FFFFFF"/>
          </a:solidFill>
          <a:ln/>
        </p:spPr>
      </p:sp>
      <p:sp>
        <p:nvSpPr>
          <p:cNvPr id="7" name="Text 5"/>
          <p:cNvSpPr/>
          <p:nvPr/>
        </p:nvSpPr>
        <p:spPr>
          <a:xfrm>
            <a:off x="1371600" y="3840480"/>
            <a:ext cx="9418320" cy="1645920"/>
          </a:xfrm>
          <a:prstGeom prst="rect">
            <a:avLst/>
          </a:prstGeom>
          <a:noFill/>
          <a:ln/>
        </p:spPr>
        <p:txBody>
          <a:bodyPr wrap="square" rtlCol="0" anchor="t"/>
          <a:lstStyle/>
          <a:p>
            <a:pPr marL="0" indent="0" algn="ctr">
              <a:buNone/>
            </a:pPr>
            <a:r>
              <a:rPr lang="en-US" sz="1100" dirty="0">
                <a:solidFill>
                  <a:srgbClr val="FFFFFF"/>
                </a:solidFill>
              </a:rPr>
              <a:t>Breiman, L. (2001). Random forests. Machine Learning.
Friedman, J. H. (2001). Greedy function approximation. Annals of Statistics.
Probst, P. et al. (2019). HP and tuning for Random Forest. WIREs DM.
Morris, J. X. et al. (2020). TextAttack framework. EMNLP.
Yu, T. et al. (2018). Spider dataset. EMNLP.
Mehrabi, N. et al. (2021). Bias and fairness in ML. ACM Computing Surveys.</a:t>
            </a:r>
            <a:endParaRPr lang="en-US" sz="1100" dirty="0"/>
          </a:p>
        </p:txBody>
      </p:sp>
      <p:sp>
        <p:nvSpPr>
          <p:cNvPr id="8" name="Shape 6"/>
          <p:cNvSpPr/>
          <p:nvPr/>
        </p:nvSpPr>
        <p:spPr>
          <a:xfrm>
            <a:off x="0" y="6126480"/>
            <a:ext cx="12188952" cy="731520"/>
          </a:xfrm>
          <a:prstGeom prst="rect">
            <a:avLst/>
          </a:prstGeom>
          <a:solidFill>
            <a:srgbClr val="5C0D28"/>
          </a:solidFill>
          <a:ln/>
        </p:spPr>
      </p:sp>
      <p:sp>
        <p:nvSpPr>
          <p:cNvPr id="9" name="Text 7"/>
          <p:cNvSpPr/>
          <p:nvPr/>
        </p:nvSpPr>
        <p:spPr>
          <a:xfrm>
            <a:off x="457200" y="6217920"/>
            <a:ext cx="11274552" cy="548640"/>
          </a:xfrm>
          <a:prstGeom prst="rect">
            <a:avLst/>
          </a:prstGeom>
          <a:noFill/>
          <a:ln/>
        </p:spPr>
        <p:txBody>
          <a:bodyPr wrap="square" rtlCol="0" anchor="ctr"/>
          <a:lstStyle/>
          <a:p>
            <a:pPr marL="0" indent="0" algn="ctr">
              <a:buNone/>
            </a:pPr>
            <a:r>
              <a:rPr lang="en-US" sz="1300" b="1" dirty="0">
                <a:solidFill>
                  <a:srgbClr val="FFFFFF"/>
                </a:solidFill>
              </a:rPr>
              <a:t>Cabrera Parrales Joel David · Sánchez Arévalo Aníbal Andrés</a:t>
            </a:r>
            <a:endParaRPr lang="en-US" sz="1300" dirty="0"/>
          </a:p>
          <a:p>
            <a:pPr marL="0" indent="0" algn="ctr">
              <a:buNone/>
            </a:pPr>
            <a:r>
              <a:rPr lang="en-US" sz="1100" i="1" dirty="0">
                <a:solidFill>
                  <a:srgbClr val="F2F2F2"/>
                </a:solidFill>
              </a:rPr>
              <a:t>Tutora: Mg. Alexandra J. Arciniegas C.  |  UEES · Maestría en IA · Abril 2026</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1008</Words>
  <Application>Microsoft Office PowerPoint</Application>
  <PresentationFormat>Panorámica</PresentationFormat>
  <Paragraphs>178</Paragraphs>
  <Slides>15</Slides>
  <Notes>15</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15</vt:i4>
      </vt:variant>
    </vt:vector>
  </HeadingPairs>
  <TitlesOfParts>
    <vt:vector size="19" baseType="lpstr">
      <vt:lpstr>Arial</vt:lpstr>
      <vt:lpstr>Calibri</vt:lpstr>
      <vt:lpstr>Consolas</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Informe Técnico - Evaluación Avanzada y Optimización ML</dc:title>
  <dc:subject>PptxGenJS Presentation</dc:subject>
  <dc:creator>Grupo Sánchez-Cabrera</dc:creator>
  <cp:lastModifiedBy>Andrés Sánchez Arévalo</cp:lastModifiedBy>
  <cp:revision>2</cp:revision>
  <dcterms:created xsi:type="dcterms:W3CDTF">2026-04-25T03:30:45Z</dcterms:created>
  <dcterms:modified xsi:type="dcterms:W3CDTF">2026-04-25T03:33:50Z</dcterms:modified>
</cp:coreProperties>
</file>